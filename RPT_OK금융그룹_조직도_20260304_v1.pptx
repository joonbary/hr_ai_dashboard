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5000"/>
          </a:solidFill>
          <a:ln/>
        </p:spPr>
      </p:sp>
      <p:sp>
        <p:nvSpPr>
          <p:cNvPr id="3" name="Shape 1"/>
          <p:cNvSpPr/>
          <p:nvPr/>
        </p:nvSpPr>
        <p:spPr>
          <a:xfrm>
            <a:off x="731520" y="1828800"/>
            <a:ext cx="54864" cy="2560320"/>
          </a:xfrm>
          <a:prstGeom prst="rect">
            <a:avLst/>
          </a:prstGeom>
          <a:solidFill>
            <a:srgbClr val="F55000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01168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55474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OK금융그룹 조직도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097280" y="2880360"/>
            <a:ext cx="2743200" cy="27432"/>
          </a:xfrm>
          <a:prstGeom prst="rect">
            <a:avLst/>
          </a:prstGeom>
          <a:solidFill>
            <a:srgbClr val="F5500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31089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555555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기준일: 2026.03.04  |  사원명부 기준 1,738명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ACI신용정보: 245명  |  AFI에프앤아이: 137명  |  OK캐피탈: 215명  |  OK저축은행: 954명  |  OKAX: 86명  |  OK홀딩스: 74명  |  ON+소규모: 27명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6309360"/>
            <a:ext cx="731520" cy="22860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63093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대외비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943600" y="63093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OK금융그룹 인사부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5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55474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OK금융그룹 전체 조직 현황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7200" y="658368"/>
            <a:ext cx="822960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914400"/>
            <a:ext cx="1828800" cy="16459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914400"/>
            <a:ext cx="1828800" cy="329184"/>
          </a:xfrm>
          <a:prstGeom prst="rect">
            <a:avLst/>
          </a:prstGeom>
          <a:solidFill>
            <a:srgbClr val="689F3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9144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ACI신용정보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45920" y="9144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245명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1298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NPL관리1부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737360" y="12984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199명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731520" y="14813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NPL관리2부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737360" y="148132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7명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731520" y="16642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NPL관리3부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737360" y="16642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3명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731520" y="1847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NPL관리4부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737360" y="18470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3명</a:t>
            </a:r>
            <a:endParaRPr lang="en-US" sz="700" dirty="0"/>
          </a:p>
        </p:txBody>
      </p:sp>
      <p:sp>
        <p:nvSpPr>
          <p:cNvPr id="17" name="Text 15"/>
          <p:cNvSpPr/>
          <p:nvPr/>
        </p:nvSpPr>
        <p:spPr>
          <a:xfrm>
            <a:off x="731520" y="20299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경영관리부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737360" y="2029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26명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31520" y="2212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채권기획부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737360" y="22128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2명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651760" y="914400"/>
            <a:ext cx="1828800" cy="16459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651760" y="914400"/>
            <a:ext cx="1828800" cy="329184"/>
          </a:xfrm>
          <a:prstGeom prst="rect">
            <a:avLst/>
          </a:prstGeom>
          <a:solidFill>
            <a:srgbClr val="7B1FA2"/>
          </a:solidFill>
          <a:ln/>
        </p:spPr>
      </p:sp>
      <p:sp>
        <p:nvSpPr>
          <p:cNvPr id="23" name="Text 21"/>
          <p:cNvSpPr/>
          <p:nvPr/>
        </p:nvSpPr>
        <p:spPr>
          <a:xfrm>
            <a:off x="2724912" y="9144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AFI에프앤아이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0" y="9144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137명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743200" y="1298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경영지원본부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3749040" y="12984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15명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743200" y="14813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기업금융본부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3749040" y="148132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6명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743200" y="16642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영업본부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3749040" y="16642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100명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743200" y="1847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투자금융본부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3749040" y="18470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11명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4663440" y="914400"/>
            <a:ext cx="1828800" cy="16459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663440" y="914400"/>
            <a:ext cx="1828800" cy="329184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35" name="Text 33"/>
          <p:cNvSpPr/>
          <p:nvPr/>
        </p:nvSpPr>
        <p:spPr>
          <a:xfrm>
            <a:off x="4736592" y="9144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OK캐피탈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669280" y="9144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215명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54880" y="1298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AX경영관리본부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760720" y="12984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34명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754880" y="14813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AX리스크관리본부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760720" y="148132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13명</a:t>
            </a:r>
            <a:endParaRPr lang="en-US" sz="700" dirty="0"/>
          </a:p>
        </p:txBody>
      </p:sp>
      <p:sp>
        <p:nvSpPr>
          <p:cNvPr id="41" name="Text 39"/>
          <p:cNvSpPr/>
          <p:nvPr/>
        </p:nvSpPr>
        <p:spPr>
          <a:xfrm>
            <a:off x="4754880" y="16642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AX소비자금융본부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5760720" y="16642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128명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4754880" y="1847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기업고객사업본부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5760720" y="18470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27명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6675120" y="914400"/>
            <a:ext cx="1828800" cy="16459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675120" y="914400"/>
            <a:ext cx="1828800" cy="329184"/>
          </a:xfrm>
          <a:prstGeom prst="rect">
            <a:avLst/>
          </a:prstGeom>
          <a:solidFill>
            <a:srgbClr val="E8572A"/>
          </a:solidFill>
          <a:ln/>
        </p:spPr>
      </p:sp>
      <p:sp>
        <p:nvSpPr>
          <p:cNvPr id="47" name="Text 45"/>
          <p:cNvSpPr/>
          <p:nvPr/>
        </p:nvSpPr>
        <p:spPr>
          <a:xfrm>
            <a:off x="6748272" y="9144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OK저축은행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80960" y="9144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954명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766560" y="12984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AI디지털본부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7772400" y="12984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27명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6766560" y="14813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AX-CSR본부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772400" y="148132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9명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6766560" y="16642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AX경영관리본부</a:t>
            </a:r>
            <a:endParaRPr lang="en-US" sz="750" dirty="0"/>
          </a:p>
        </p:txBody>
      </p:sp>
      <p:sp>
        <p:nvSpPr>
          <p:cNvPr id="54" name="Text 52"/>
          <p:cNvSpPr/>
          <p:nvPr/>
        </p:nvSpPr>
        <p:spPr>
          <a:xfrm>
            <a:off x="7772400" y="16642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89명</a:t>
            </a:r>
            <a:endParaRPr lang="en-US" sz="700" dirty="0"/>
          </a:p>
        </p:txBody>
      </p:sp>
      <p:sp>
        <p:nvSpPr>
          <p:cNvPr id="55" name="Text 53"/>
          <p:cNvSpPr/>
          <p:nvPr/>
        </p:nvSpPr>
        <p:spPr>
          <a:xfrm>
            <a:off x="6766560" y="18470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AX마케팅본부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7772400" y="18470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39명</a:t>
            </a:r>
            <a:endParaRPr lang="en-US" sz="700" dirty="0"/>
          </a:p>
        </p:txBody>
      </p:sp>
      <p:sp>
        <p:nvSpPr>
          <p:cNvPr id="57" name="Text 55"/>
          <p:cNvSpPr/>
          <p:nvPr/>
        </p:nvSpPr>
        <p:spPr>
          <a:xfrm>
            <a:off x="6766560" y="20299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AX소비자금융본부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772400" y="20299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422명</a:t>
            </a:r>
            <a:endParaRPr lang="en-US" sz="700" dirty="0"/>
          </a:p>
        </p:txBody>
      </p:sp>
      <p:sp>
        <p:nvSpPr>
          <p:cNvPr id="59" name="Text 57"/>
          <p:cNvSpPr/>
          <p:nvPr/>
        </p:nvSpPr>
        <p:spPr>
          <a:xfrm>
            <a:off x="6766560" y="22128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AX신용관리본부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7772400" y="22128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16명</a:t>
            </a:r>
            <a:endParaRPr lang="en-US" sz="700" dirty="0"/>
          </a:p>
        </p:txBody>
      </p:sp>
      <p:sp>
        <p:nvSpPr>
          <p:cNvPr id="61" name="Text 59"/>
          <p:cNvSpPr/>
          <p:nvPr/>
        </p:nvSpPr>
        <p:spPr>
          <a:xfrm>
            <a:off x="6766560" y="2395728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외 10개 조직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640080" y="2743200"/>
            <a:ext cx="1828800" cy="16459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63" name="Shape 61"/>
          <p:cNvSpPr/>
          <p:nvPr/>
        </p:nvSpPr>
        <p:spPr>
          <a:xfrm>
            <a:off x="640080" y="2743200"/>
            <a:ext cx="1828800" cy="329184"/>
          </a:xfrm>
          <a:prstGeom prst="rect">
            <a:avLst/>
          </a:prstGeom>
          <a:solidFill>
            <a:srgbClr val="00838F"/>
          </a:solidFill>
          <a:ln/>
        </p:spPr>
      </p:sp>
      <p:sp>
        <p:nvSpPr>
          <p:cNvPr id="64" name="Text 62"/>
          <p:cNvSpPr/>
          <p:nvPr/>
        </p:nvSpPr>
        <p:spPr>
          <a:xfrm>
            <a:off x="713232" y="27432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OKAX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1645920" y="27432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86명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31520" y="3127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AI기획부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1737360" y="31272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16명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731520" y="33101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IT금융서비스부</a:t>
            </a:r>
            <a:endParaRPr lang="en-US" sz="750" dirty="0"/>
          </a:p>
        </p:txBody>
      </p:sp>
      <p:sp>
        <p:nvSpPr>
          <p:cNvPr id="69" name="Text 67"/>
          <p:cNvSpPr/>
          <p:nvPr/>
        </p:nvSpPr>
        <p:spPr>
          <a:xfrm>
            <a:off x="1737360" y="331012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25명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731520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디지털채널부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1737360" y="34930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12명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731520" y="36758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시스템운영부</a:t>
            </a:r>
            <a:endParaRPr lang="en-US" sz="750" dirty="0"/>
          </a:p>
        </p:txBody>
      </p:sp>
      <p:sp>
        <p:nvSpPr>
          <p:cNvPr id="73" name="Text 71"/>
          <p:cNvSpPr/>
          <p:nvPr/>
        </p:nvSpPr>
        <p:spPr>
          <a:xfrm>
            <a:off x="1737360" y="36758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27명</a:t>
            </a:r>
            <a:endParaRPr lang="en-US" sz="700" dirty="0"/>
          </a:p>
        </p:txBody>
      </p:sp>
      <p:sp>
        <p:nvSpPr>
          <p:cNvPr id="74" name="Shape 72"/>
          <p:cNvSpPr/>
          <p:nvPr/>
        </p:nvSpPr>
        <p:spPr>
          <a:xfrm>
            <a:off x="2651760" y="2743200"/>
            <a:ext cx="1828800" cy="16459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75" name="Shape 73"/>
          <p:cNvSpPr/>
          <p:nvPr/>
        </p:nvSpPr>
        <p:spPr>
          <a:xfrm>
            <a:off x="2651760" y="2743200"/>
            <a:ext cx="1828800" cy="329184"/>
          </a:xfrm>
          <a:prstGeom prst="rect">
            <a:avLst/>
          </a:prstGeom>
          <a:solidFill>
            <a:srgbClr val="55474A"/>
          </a:solidFill>
          <a:ln/>
        </p:spPr>
      </p:sp>
      <p:sp>
        <p:nvSpPr>
          <p:cNvPr id="76" name="Text 74"/>
          <p:cNvSpPr/>
          <p:nvPr/>
        </p:nvSpPr>
        <p:spPr>
          <a:xfrm>
            <a:off x="2724912" y="27432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OK홀딩스</a:t>
            </a:r>
            <a:endParaRPr lang="en-US" sz="1000" dirty="0"/>
          </a:p>
        </p:txBody>
      </p:sp>
      <p:sp>
        <p:nvSpPr>
          <p:cNvPr id="77" name="Text 75"/>
          <p:cNvSpPr/>
          <p:nvPr/>
        </p:nvSpPr>
        <p:spPr>
          <a:xfrm>
            <a:off x="3657600" y="27432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74명</a:t>
            </a:r>
            <a:endParaRPr lang="en-US" sz="1000" dirty="0"/>
          </a:p>
        </p:txBody>
      </p:sp>
      <p:sp>
        <p:nvSpPr>
          <p:cNvPr id="78" name="Text 76"/>
          <p:cNvSpPr/>
          <p:nvPr/>
        </p:nvSpPr>
        <p:spPr>
          <a:xfrm>
            <a:off x="2743200" y="3127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AX경영전략본부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3749040" y="31272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14명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2743200" y="33101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AX경영지원본부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3749040" y="331012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23명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743200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AX자금본부</a:t>
            </a:r>
            <a:endParaRPr lang="en-US" sz="750" dirty="0"/>
          </a:p>
        </p:txBody>
      </p:sp>
      <p:sp>
        <p:nvSpPr>
          <p:cNvPr id="83" name="Text 81"/>
          <p:cNvSpPr/>
          <p:nvPr/>
        </p:nvSpPr>
        <p:spPr>
          <a:xfrm>
            <a:off x="3749040" y="34930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6명</a:t>
            </a:r>
            <a:endParaRPr lang="en-US" sz="700" dirty="0"/>
          </a:p>
        </p:txBody>
      </p:sp>
      <p:sp>
        <p:nvSpPr>
          <p:cNvPr id="84" name="Text 82"/>
          <p:cNvSpPr/>
          <p:nvPr/>
        </p:nvSpPr>
        <p:spPr>
          <a:xfrm>
            <a:off x="2743200" y="36758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AX준법지원본부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3749040" y="36758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1명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743200" y="38587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AX홍보스포츠본부</a:t>
            </a:r>
            <a:endParaRPr lang="en-US" sz="750" dirty="0"/>
          </a:p>
        </p:txBody>
      </p:sp>
      <p:sp>
        <p:nvSpPr>
          <p:cNvPr id="87" name="Text 85"/>
          <p:cNvSpPr/>
          <p:nvPr/>
        </p:nvSpPr>
        <p:spPr>
          <a:xfrm>
            <a:off x="3749040" y="38587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6명</a:t>
            </a:r>
            <a:endParaRPr lang="en-US" sz="700" dirty="0"/>
          </a:p>
        </p:txBody>
      </p:sp>
      <p:sp>
        <p:nvSpPr>
          <p:cNvPr id="88" name="Text 86"/>
          <p:cNvSpPr/>
          <p:nvPr/>
        </p:nvSpPr>
        <p:spPr>
          <a:xfrm>
            <a:off x="2743200" y="40416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AX회계본부</a:t>
            </a:r>
            <a:endParaRPr lang="en-US" sz="750" dirty="0"/>
          </a:p>
        </p:txBody>
      </p:sp>
      <p:sp>
        <p:nvSpPr>
          <p:cNvPr id="89" name="Text 87"/>
          <p:cNvSpPr/>
          <p:nvPr/>
        </p:nvSpPr>
        <p:spPr>
          <a:xfrm>
            <a:off x="3749040" y="40416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10명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2743200" y="4224528"/>
            <a:ext cx="1645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외 3개 조직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4663440" y="2743200"/>
            <a:ext cx="1828800" cy="1645920"/>
          </a:xfrm>
          <a:prstGeom prst="rect">
            <a:avLst/>
          </a:prstGeom>
          <a:solidFill>
            <a:srgbClr val="FFFFFF"/>
          </a:solidFill>
          <a:ln w="10160">
            <a:solidFill>
              <a:srgbClr val="E0E0E0"/>
            </a:solidFill>
            <a:prstDash val="solid"/>
          </a:ln>
          <a:effectLst>
            <a:outerShdw sx="100000" sy="100000" kx="0" ky="0" algn="bl" rotWithShape="0" blurRad="38100" dist="12700" dir="8100000">
              <a:srgbClr val="000000">
                <a:alpha val="8000"/>
              </a:srgbClr>
            </a:outerShdw>
          </a:effectLst>
        </p:spPr>
      </p:sp>
      <p:sp>
        <p:nvSpPr>
          <p:cNvPr id="92" name="Shape 90"/>
          <p:cNvSpPr/>
          <p:nvPr/>
        </p:nvSpPr>
        <p:spPr>
          <a:xfrm>
            <a:off x="4663440" y="2743200"/>
            <a:ext cx="1828800" cy="329184"/>
          </a:xfrm>
          <a:prstGeom prst="rect">
            <a:avLst/>
          </a:prstGeom>
          <a:solidFill>
            <a:srgbClr val="78909C"/>
          </a:solidFill>
          <a:ln/>
        </p:spPr>
      </p:sp>
      <p:sp>
        <p:nvSpPr>
          <p:cNvPr id="93" name="Text 91"/>
          <p:cNvSpPr/>
          <p:nvPr/>
        </p:nvSpPr>
        <p:spPr>
          <a:xfrm>
            <a:off x="4736592" y="274320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ON+소규모</a:t>
            </a:r>
            <a:endParaRPr lang="en-US" sz="1000" dirty="0"/>
          </a:p>
        </p:txBody>
      </p:sp>
      <p:sp>
        <p:nvSpPr>
          <p:cNvPr id="94" name="Text 92"/>
          <p:cNvSpPr/>
          <p:nvPr/>
        </p:nvSpPr>
        <p:spPr>
          <a:xfrm>
            <a:off x="5669280" y="27432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27명</a:t>
            </a:r>
            <a:endParaRPr lang="en-US" sz="1000" dirty="0"/>
          </a:p>
        </p:txBody>
      </p:sp>
      <p:sp>
        <p:nvSpPr>
          <p:cNvPr id="95" name="Text 93"/>
          <p:cNvSpPr/>
          <p:nvPr/>
        </p:nvSpPr>
        <p:spPr>
          <a:xfrm>
            <a:off x="4754880" y="312724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EX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5760720" y="312724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1명</a:t>
            </a:r>
            <a:endParaRPr lang="en-US" sz="700" dirty="0"/>
          </a:p>
        </p:txBody>
      </p:sp>
      <p:sp>
        <p:nvSpPr>
          <p:cNvPr id="97" name="Text 95"/>
          <p:cNvSpPr/>
          <p:nvPr/>
        </p:nvSpPr>
        <p:spPr>
          <a:xfrm>
            <a:off x="4754880" y="331012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OKIP</a:t>
            </a:r>
            <a:endParaRPr lang="en-US" sz="750" dirty="0"/>
          </a:p>
        </p:txBody>
      </p:sp>
      <p:sp>
        <p:nvSpPr>
          <p:cNvPr id="98" name="Text 96"/>
          <p:cNvSpPr/>
          <p:nvPr/>
        </p:nvSpPr>
        <p:spPr>
          <a:xfrm>
            <a:off x="5760720" y="331012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2명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4754880" y="349300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OKV</a:t>
            </a:r>
            <a:endParaRPr lang="en-US" sz="750" dirty="0"/>
          </a:p>
        </p:txBody>
      </p:sp>
      <p:sp>
        <p:nvSpPr>
          <p:cNvPr id="100" name="Text 98"/>
          <p:cNvSpPr/>
          <p:nvPr/>
        </p:nvSpPr>
        <p:spPr>
          <a:xfrm>
            <a:off x="5760720" y="349300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1명</a:t>
            </a:r>
            <a:endParaRPr lang="en-US" sz="700" dirty="0"/>
          </a:p>
        </p:txBody>
      </p:sp>
      <p:sp>
        <p:nvSpPr>
          <p:cNvPr id="101" name="Text 99"/>
          <p:cNvSpPr/>
          <p:nvPr/>
        </p:nvSpPr>
        <p:spPr>
          <a:xfrm>
            <a:off x="4754880" y="367588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ON</a:t>
            </a:r>
            <a:endParaRPr lang="en-US" sz="750" dirty="0"/>
          </a:p>
        </p:txBody>
      </p:sp>
      <p:sp>
        <p:nvSpPr>
          <p:cNvPr id="102" name="Text 100"/>
          <p:cNvSpPr/>
          <p:nvPr/>
        </p:nvSpPr>
        <p:spPr>
          <a:xfrm>
            <a:off x="5760720" y="367588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17명</a:t>
            </a:r>
            <a:endParaRPr lang="en-US" sz="700" dirty="0"/>
          </a:p>
        </p:txBody>
      </p:sp>
      <p:sp>
        <p:nvSpPr>
          <p:cNvPr id="103" name="Text 101"/>
          <p:cNvSpPr/>
          <p:nvPr/>
        </p:nvSpPr>
        <p:spPr>
          <a:xfrm>
            <a:off x="4754880" y="3858768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OT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5760720" y="38587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6명</a:t>
            </a:r>
            <a:endParaRPr lang="en-US" sz="700" dirty="0"/>
          </a:p>
        </p:txBody>
      </p:sp>
      <p:sp>
        <p:nvSpPr>
          <p:cNvPr id="105" name="Text 103"/>
          <p:cNvSpPr/>
          <p:nvPr/>
        </p:nvSpPr>
        <p:spPr>
          <a:xfrm>
            <a:off x="457200" y="64465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기준일: 2026.03.04  |  총 1,738명  |  7개 법인(+소규모)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5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474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OK홀딩스 조직도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5474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74명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6" name="Shape 4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solidFill>
            <a:srgbClr val="55474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OK홀딩스  74명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932688"/>
            <a:ext cx="0" cy="13716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50976" y="1069848"/>
            <a:ext cx="7242048" cy="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50976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2356" y="1207008"/>
            <a:ext cx="777240" cy="256032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2" name="Text 10"/>
          <p:cNvSpPr/>
          <p:nvPr/>
        </p:nvSpPr>
        <p:spPr>
          <a:xfrm>
            <a:off x="562356" y="1207008"/>
            <a:ext cx="5829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AX경영전략본…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121969" y="1207008"/>
            <a:ext cx="202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14</a:t>
            </a:r>
            <a:endParaRPr lang="en-US" sz="550" dirty="0"/>
          </a:p>
        </p:txBody>
      </p:sp>
      <p:sp>
        <p:nvSpPr>
          <p:cNvPr id="14" name="Shape 12"/>
          <p:cNvSpPr/>
          <p:nvPr/>
        </p:nvSpPr>
        <p:spPr>
          <a:xfrm>
            <a:off x="950976" y="1463040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4360" y="1664208"/>
            <a:ext cx="713232" cy="52120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1664208"/>
            <a:ext cx="713232" cy="201168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7" name="Text 15"/>
          <p:cNvSpPr/>
          <p:nvPr/>
        </p:nvSpPr>
        <p:spPr>
          <a:xfrm>
            <a:off x="612648" y="1664208"/>
            <a:ext cx="4849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AX전략기획…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79358" y="1664208"/>
            <a:ext cx="213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13</a:t>
            </a:r>
            <a:endParaRPr lang="en-US" sz="550" dirty="0"/>
          </a:p>
        </p:txBody>
      </p:sp>
      <p:sp>
        <p:nvSpPr>
          <p:cNvPr id="19" name="Shape 17"/>
          <p:cNvSpPr/>
          <p:nvPr/>
        </p:nvSpPr>
        <p:spPr>
          <a:xfrm>
            <a:off x="630936" y="193395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1879092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비서실</a:t>
            </a:r>
            <a:endParaRPr lang="en-US" sz="550" dirty="0"/>
          </a:p>
        </p:txBody>
      </p:sp>
      <p:sp>
        <p:nvSpPr>
          <p:cNvPr id="21" name="Text 19"/>
          <p:cNvSpPr/>
          <p:nvPr/>
        </p:nvSpPr>
        <p:spPr>
          <a:xfrm>
            <a:off x="1079358" y="1879092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500" dirty="0"/>
          </a:p>
        </p:txBody>
      </p:sp>
      <p:sp>
        <p:nvSpPr>
          <p:cNvPr id="22" name="Shape 20"/>
          <p:cNvSpPr/>
          <p:nvPr/>
        </p:nvSpPr>
        <p:spPr>
          <a:xfrm>
            <a:off x="630936" y="208026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" y="2025396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전략기획팀</a:t>
            </a:r>
            <a:endParaRPr lang="en-US" sz="550" dirty="0"/>
          </a:p>
        </p:txBody>
      </p:sp>
      <p:sp>
        <p:nvSpPr>
          <p:cNvPr id="24" name="Text 22"/>
          <p:cNvSpPr/>
          <p:nvPr/>
        </p:nvSpPr>
        <p:spPr>
          <a:xfrm>
            <a:off x="1079358" y="2025396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8</a:t>
            </a:r>
            <a:endParaRPr lang="en-US" sz="500" dirty="0"/>
          </a:p>
        </p:txBody>
      </p:sp>
      <p:sp>
        <p:nvSpPr>
          <p:cNvPr id="25" name="Shape 23"/>
          <p:cNvSpPr/>
          <p:nvPr/>
        </p:nvSpPr>
        <p:spPr>
          <a:xfrm>
            <a:off x="1856232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67612" y="1207008"/>
            <a:ext cx="777240" cy="256032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27" name="Text 25"/>
          <p:cNvSpPr/>
          <p:nvPr/>
        </p:nvSpPr>
        <p:spPr>
          <a:xfrm>
            <a:off x="1467612" y="1207008"/>
            <a:ext cx="5829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AX경영지원본…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027225" y="1207008"/>
            <a:ext cx="202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23</a:t>
            </a:r>
            <a:endParaRPr lang="en-US" sz="550" dirty="0"/>
          </a:p>
        </p:txBody>
      </p:sp>
      <p:sp>
        <p:nvSpPr>
          <p:cNvPr id="29" name="Shape 27"/>
          <p:cNvSpPr/>
          <p:nvPr/>
        </p:nvSpPr>
        <p:spPr>
          <a:xfrm>
            <a:off x="1856232" y="1463040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99616" y="1664208"/>
            <a:ext cx="713232" cy="52120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499616" y="1664208"/>
            <a:ext cx="713232" cy="201168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32" name="Text 30"/>
          <p:cNvSpPr/>
          <p:nvPr/>
        </p:nvSpPr>
        <p:spPr>
          <a:xfrm>
            <a:off x="1517904" y="1664208"/>
            <a:ext cx="4849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AX인사부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1984614" y="1664208"/>
            <a:ext cx="213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9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1536192" y="193395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35" name="Text 33"/>
          <p:cNvSpPr/>
          <p:nvPr/>
        </p:nvSpPr>
        <p:spPr>
          <a:xfrm>
            <a:off x="1591056" y="1879092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인사기획팀</a:t>
            </a:r>
            <a:endParaRPr lang="en-US" sz="550" dirty="0"/>
          </a:p>
        </p:txBody>
      </p:sp>
      <p:sp>
        <p:nvSpPr>
          <p:cNvPr id="36" name="Text 34"/>
          <p:cNvSpPr/>
          <p:nvPr/>
        </p:nvSpPr>
        <p:spPr>
          <a:xfrm>
            <a:off x="1984614" y="1879092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500" dirty="0"/>
          </a:p>
        </p:txBody>
      </p:sp>
      <p:sp>
        <p:nvSpPr>
          <p:cNvPr id="37" name="Shape 35"/>
          <p:cNvSpPr/>
          <p:nvPr/>
        </p:nvSpPr>
        <p:spPr>
          <a:xfrm>
            <a:off x="1536192" y="208026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38" name="Text 36"/>
          <p:cNvSpPr/>
          <p:nvPr/>
        </p:nvSpPr>
        <p:spPr>
          <a:xfrm>
            <a:off x="1591056" y="2025396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인사팀</a:t>
            </a:r>
            <a:endParaRPr lang="en-US" sz="550" dirty="0"/>
          </a:p>
        </p:txBody>
      </p:sp>
      <p:sp>
        <p:nvSpPr>
          <p:cNvPr id="39" name="Text 37"/>
          <p:cNvSpPr/>
          <p:nvPr/>
        </p:nvSpPr>
        <p:spPr>
          <a:xfrm>
            <a:off x="1984614" y="2025396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500" dirty="0"/>
          </a:p>
        </p:txBody>
      </p:sp>
      <p:sp>
        <p:nvSpPr>
          <p:cNvPr id="40" name="Shape 38"/>
          <p:cNvSpPr/>
          <p:nvPr/>
        </p:nvSpPr>
        <p:spPr>
          <a:xfrm>
            <a:off x="1856232" y="2185416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499616" y="2240280"/>
            <a:ext cx="713232" cy="52120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499616" y="2240280"/>
            <a:ext cx="713232" cy="201168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43" name="Text 41"/>
          <p:cNvSpPr/>
          <p:nvPr/>
        </p:nvSpPr>
        <p:spPr>
          <a:xfrm>
            <a:off x="1517904" y="2240280"/>
            <a:ext cx="4849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AX인재개발…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1984614" y="2240280"/>
            <a:ext cx="213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8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1536192" y="251002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46" name="Text 44"/>
          <p:cNvSpPr/>
          <p:nvPr/>
        </p:nvSpPr>
        <p:spPr>
          <a:xfrm>
            <a:off x="1591056" y="2455164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인재개발팀</a:t>
            </a:r>
            <a:endParaRPr lang="en-US" sz="550" dirty="0"/>
          </a:p>
        </p:txBody>
      </p:sp>
      <p:sp>
        <p:nvSpPr>
          <p:cNvPr id="47" name="Text 45"/>
          <p:cNvSpPr/>
          <p:nvPr/>
        </p:nvSpPr>
        <p:spPr>
          <a:xfrm>
            <a:off x="1984614" y="2455164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500" dirty="0"/>
          </a:p>
        </p:txBody>
      </p:sp>
      <p:sp>
        <p:nvSpPr>
          <p:cNvPr id="48" name="Shape 46"/>
          <p:cNvSpPr/>
          <p:nvPr/>
        </p:nvSpPr>
        <p:spPr>
          <a:xfrm>
            <a:off x="1536192" y="265633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49" name="Text 47"/>
          <p:cNvSpPr/>
          <p:nvPr/>
        </p:nvSpPr>
        <p:spPr>
          <a:xfrm>
            <a:off x="1591056" y="2601468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조직문화팀</a:t>
            </a:r>
            <a:endParaRPr lang="en-US" sz="550" dirty="0"/>
          </a:p>
        </p:txBody>
      </p:sp>
      <p:sp>
        <p:nvSpPr>
          <p:cNvPr id="50" name="Text 48"/>
          <p:cNvSpPr/>
          <p:nvPr/>
        </p:nvSpPr>
        <p:spPr>
          <a:xfrm>
            <a:off x="1984614" y="2601468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500" dirty="0"/>
          </a:p>
        </p:txBody>
      </p:sp>
      <p:sp>
        <p:nvSpPr>
          <p:cNvPr id="51" name="Shape 49"/>
          <p:cNvSpPr/>
          <p:nvPr/>
        </p:nvSpPr>
        <p:spPr>
          <a:xfrm>
            <a:off x="1856232" y="2761488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499616" y="2816352"/>
            <a:ext cx="713232" cy="37490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499616" y="2816352"/>
            <a:ext cx="713232" cy="201168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54" name="Text 52"/>
          <p:cNvSpPr/>
          <p:nvPr/>
        </p:nvSpPr>
        <p:spPr>
          <a:xfrm>
            <a:off x="1517904" y="2816352"/>
            <a:ext cx="4849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총무부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1984614" y="2816352"/>
            <a:ext cx="213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</a:t>
            </a:r>
            <a:endParaRPr lang="en-US" sz="550" dirty="0"/>
          </a:p>
        </p:txBody>
      </p:sp>
      <p:sp>
        <p:nvSpPr>
          <p:cNvPr id="56" name="Shape 54"/>
          <p:cNvSpPr/>
          <p:nvPr/>
        </p:nvSpPr>
        <p:spPr>
          <a:xfrm>
            <a:off x="1536192" y="308610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57" name="Text 55"/>
          <p:cNvSpPr/>
          <p:nvPr/>
        </p:nvSpPr>
        <p:spPr>
          <a:xfrm>
            <a:off x="1591056" y="3031236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총무팀</a:t>
            </a:r>
            <a:endParaRPr lang="en-US" sz="550" dirty="0"/>
          </a:p>
        </p:txBody>
      </p:sp>
      <p:sp>
        <p:nvSpPr>
          <p:cNvPr id="58" name="Text 56"/>
          <p:cNvSpPr/>
          <p:nvPr/>
        </p:nvSpPr>
        <p:spPr>
          <a:xfrm>
            <a:off x="1984614" y="3031236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500" dirty="0"/>
          </a:p>
        </p:txBody>
      </p:sp>
      <p:sp>
        <p:nvSpPr>
          <p:cNvPr id="59" name="Shape 57"/>
          <p:cNvSpPr/>
          <p:nvPr/>
        </p:nvSpPr>
        <p:spPr>
          <a:xfrm>
            <a:off x="2761488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372868" y="1207008"/>
            <a:ext cx="777240" cy="256032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61" name="Text 59"/>
          <p:cNvSpPr/>
          <p:nvPr/>
        </p:nvSpPr>
        <p:spPr>
          <a:xfrm>
            <a:off x="2372868" y="1207008"/>
            <a:ext cx="5829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AX자금본부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2932481" y="1207008"/>
            <a:ext cx="202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</a:t>
            </a:r>
            <a:endParaRPr lang="en-US" sz="550" dirty="0"/>
          </a:p>
        </p:txBody>
      </p:sp>
      <p:sp>
        <p:nvSpPr>
          <p:cNvPr id="63" name="Shape 61"/>
          <p:cNvSpPr/>
          <p:nvPr/>
        </p:nvSpPr>
        <p:spPr>
          <a:xfrm>
            <a:off x="2761488" y="1463040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404872" y="1664208"/>
            <a:ext cx="713232" cy="37490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2404872" y="1664208"/>
            <a:ext cx="713232" cy="201168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66" name="Text 64"/>
          <p:cNvSpPr/>
          <p:nvPr/>
        </p:nvSpPr>
        <p:spPr>
          <a:xfrm>
            <a:off x="2423160" y="1664208"/>
            <a:ext cx="4849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자금1부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2889870" y="1664208"/>
            <a:ext cx="213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550" dirty="0"/>
          </a:p>
        </p:txBody>
      </p:sp>
      <p:sp>
        <p:nvSpPr>
          <p:cNvPr id="68" name="Shape 66"/>
          <p:cNvSpPr/>
          <p:nvPr/>
        </p:nvSpPr>
        <p:spPr>
          <a:xfrm>
            <a:off x="2441448" y="193395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69" name="Text 67"/>
          <p:cNvSpPr/>
          <p:nvPr/>
        </p:nvSpPr>
        <p:spPr>
          <a:xfrm>
            <a:off x="2496312" y="1879092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자금1팀</a:t>
            </a:r>
            <a:endParaRPr lang="en-US" sz="550" dirty="0"/>
          </a:p>
        </p:txBody>
      </p:sp>
      <p:sp>
        <p:nvSpPr>
          <p:cNvPr id="70" name="Text 68"/>
          <p:cNvSpPr/>
          <p:nvPr/>
        </p:nvSpPr>
        <p:spPr>
          <a:xfrm>
            <a:off x="2889870" y="1879092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500" dirty="0"/>
          </a:p>
        </p:txBody>
      </p:sp>
      <p:sp>
        <p:nvSpPr>
          <p:cNvPr id="71" name="Shape 69"/>
          <p:cNvSpPr/>
          <p:nvPr/>
        </p:nvSpPr>
        <p:spPr>
          <a:xfrm>
            <a:off x="2761488" y="2039112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404872" y="2093976"/>
            <a:ext cx="713232" cy="37490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2404872" y="2093976"/>
            <a:ext cx="713232" cy="201168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74" name="Text 72"/>
          <p:cNvSpPr/>
          <p:nvPr/>
        </p:nvSpPr>
        <p:spPr>
          <a:xfrm>
            <a:off x="2423160" y="2093976"/>
            <a:ext cx="4849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자금2부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2889870" y="2093976"/>
            <a:ext cx="213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550" dirty="0"/>
          </a:p>
        </p:txBody>
      </p:sp>
      <p:sp>
        <p:nvSpPr>
          <p:cNvPr id="76" name="Shape 74"/>
          <p:cNvSpPr/>
          <p:nvPr/>
        </p:nvSpPr>
        <p:spPr>
          <a:xfrm>
            <a:off x="2441448" y="236372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77" name="Text 75"/>
          <p:cNvSpPr/>
          <p:nvPr/>
        </p:nvSpPr>
        <p:spPr>
          <a:xfrm>
            <a:off x="2496312" y="2308860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자금2팀</a:t>
            </a:r>
            <a:endParaRPr lang="en-US" sz="550" dirty="0"/>
          </a:p>
        </p:txBody>
      </p:sp>
      <p:sp>
        <p:nvSpPr>
          <p:cNvPr id="78" name="Text 76"/>
          <p:cNvSpPr/>
          <p:nvPr/>
        </p:nvSpPr>
        <p:spPr>
          <a:xfrm>
            <a:off x="2889870" y="2308860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500" dirty="0"/>
          </a:p>
        </p:txBody>
      </p:sp>
      <p:sp>
        <p:nvSpPr>
          <p:cNvPr id="79" name="Shape 77"/>
          <p:cNvSpPr/>
          <p:nvPr/>
        </p:nvSpPr>
        <p:spPr>
          <a:xfrm>
            <a:off x="3666744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3278124" y="1207008"/>
            <a:ext cx="777240" cy="256032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81" name="Text 79"/>
          <p:cNvSpPr/>
          <p:nvPr/>
        </p:nvSpPr>
        <p:spPr>
          <a:xfrm>
            <a:off x="3278124" y="1207008"/>
            <a:ext cx="5829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AX준법지원본…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3837737" y="1207008"/>
            <a:ext cx="202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550" dirty="0"/>
          </a:p>
        </p:txBody>
      </p:sp>
      <p:sp>
        <p:nvSpPr>
          <p:cNvPr id="83" name="Shape 81"/>
          <p:cNvSpPr/>
          <p:nvPr/>
        </p:nvSpPr>
        <p:spPr>
          <a:xfrm>
            <a:off x="3666744" y="1463040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310128" y="1664208"/>
            <a:ext cx="713232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310128" y="1664208"/>
            <a:ext cx="713232" cy="201168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86" name="Text 84"/>
          <p:cNvSpPr/>
          <p:nvPr/>
        </p:nvSpPr>
        <p:spPr>
          <a:xfrm>
            <a:off x="3328416" y="1664208"/>
            <a:ext cx="4849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준법지원실</a:t>
            </a:r>
            <a:endParaRPr lang="en-US" sz="650" dirty="0"/>
          </a:p>
        </p:txBody>
      </p:sp>
      <p:sp>
        <p:nvSpPr>
          <p:cNvPr id="87" name="Text 85"/>
          <p:cNvSpPr/>
          <p:nvPr/>
        </p:nvSpPr>
        <p:spPr>
          <a:xfrm>
            <a:off x="3795126" y="1664208"/>
            <a:ext cx="213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550" dirty="0"/>
          </a:p>
        </p:txBody>
      </p:sp>
      <p:sp>
        <p:nvSpPr>
          <p:cNvPr id="88" name="Shape 86"/>
          <p:cNvSpPr/>
          <p:nvPr/>
        </p:nvSpPr>
        <p:spPr>
          <a:xfrm>
            <a:off x="4572000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4183380" y="1207008"/>
            <a:ext cx="777240" cy="256032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90" name="Text 88"/>
          <p:cNvSpPr/>
          <p:nvPr/>
        </p:nvSpPr>
        <p:spPr>
          <a:xfrm>
            <a:off x="4183380" y="1207008"/>
            <a:ext cx="5829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AX홍보스포츠…</a:t>
            </a:r>
            <a:endParaRPr lang="en-US" sz="750" dirty="0"/>
          </a:p>
        </p:txBody>
      </p:sp>
      <p:sp>
        <p:nvSpPr>
          <p:cNvPr id="91" name="Text 89"/>
          <p:cNvSpPr/>
          <p:nvPr/>
        </p:nvSpPr>
        <p:spPr>
          <a:xfrm>
            <a:off x="4742993" y="1207008"/>
            <a:ext cx="202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</a:t>
            </a:r>
            <a:endParaRPr lang="en-US" sz="550" dirty="0"/>
          </a:p>
        </p:txBody>
      </p:sp>
      <p:sp>
        <p:nvSpPr>
          <p:cNvPr id="92" name="Shape 90"/>
          <p:cNvSpPr/>
          <p:nvPr/>
        </p:nvSpPr>
        <p:spPr>
          <a:xfrm>
            <a:off x="4572000" y="1463040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215384" y="1664208"/>
            <a:ext cx="713232" cy="52120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215384" y="1664208"/>
            <a:ext cx="713232" cy="201168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95" name="Text 93"/>
          <p:cNvSpPr/>
          <p:nvPr/>
        </p:nvSpPr>
        <p:spPr>
          <a:xfrm>
            <a:off x="4233672" y="1664208"/>
            <a:ext cx="4849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스포츠단사무…</a:t>
            </a:r>
            <a:endParaRPr lang="en-US" sz="650" dirty="0"/>
          </a:p>
        </p:txBody>
      </p:sp>
      <p:sp>
        <p:nvSpPr>
          <p:cNvPr id="96" name="Text 94"/>
          <p:cNvSpPr/>
          <p:nvPr/>
        </p:nvSpPr>
        <p:spPr>
          <a:xfrm>
            <a:off x="4700382" y="1664208"/>
            <a:ext cx="213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550" dirty="0"/>
          </a:p>
        </p:txBody>
      </p:sp>
      <p:sp>
        <p:nvSpPr>
          <p:cNvPr id="97" name="Shape 95"/>
          <p:cNvSpPr/>
          <p:nvPr/>
        </p:nvSpPr>
        <p:spPr>
          <a:xfrm>
            <a:off x="4251960" y="193395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98" name="Text 96"/>
          <p:cNvSpPr/>
          <p:nvPr/>
        </p:nvSpPr>
        <p:spPr>
          <a:xfrm>
            <a:off x="4306824" y="1879092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스포츠마케팅…</a:t>
            </a:r>
            <a:endParaRPr lang="en-US" sz="550" dirty="0"/>
          </a:p>
        </p:txBody>
      </p:sp>
      <p:sp>
        <p:nvSpPr>
          <p:cNvPr id="99" name="Text 97"/>
          <p:cNvSpPr/>
          <p:nvPr/>
        </p:nvSpPr>
        <p:spPr>
          <a:xfrm>
            <a:off x="4700382" y="1879092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500" dirty="0"/>
          </a:p>
        </p:txBody>
      </p:sp>
      <p:sp>
        <p:nvSpPr>
          <p:cNvPr id="100" name="Shape 98"/>
          <p:cNvSpPr/>
          <p:nvPr/>
        </p:nvSpPr>
        <p:spPr>
          <a:xfrm>
            <a:off x="4251960" y="208026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01" name="Text 99"/>
          <p:cNvSpPr/>
          <p:nvPr/>
        </p:nvSpPr>
        <p:spPr>
          <a:xfrm>
            <a:off x="4306824" y="2025396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스포츠운영팀</a:t>
            </a:r>
            <a:endParaRPr lang="en-US" sz="550" dirty="0"/>
          </a:p>
        </p:txBody>
      </p:sp>
      <p:sp>
        <p:nvSpPr>
          <p:cNvPr id="102" name="Text 100"/>
          <p:cNvSpPr/>
          <p:nvPr/>
        </p:nvSpPr>
        <p:spPr>
          <a:xfrm>
            <a:off x="4700382" y="2025396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500" dirty="0"/>
          </a:p>
        </p:txBody>
      </p:sp>
      <p:sp>
        <p:nvSpPr>
          <p:cNvPr id="103" name="Shape 101"/>
          <p:cNvSpPr/>
          <p:nvPr/>
        </p:nvSpPr>
        <p:spPr>
          <a:xfrm>
            <a:off x="4572000" y="2185416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4215384" y="2240280"/>
            <a:ext cx="713232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4215384" y="2240280"/>
            <a:ext cx="713232" cy="201168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06" name="Text 104"/>
          <p:cNvSpPr/>
          <p:nvPr/>
        </p:nvSpPr>
        <p:spPr>
          <a:xfrm>
            <a:off x="4233672" y="2240280"/>
            <a:ext cx="4849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홍보부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4700382" y="2240280"/>
            <a:ext cx="213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550" dirty="0"/>
          </a:p>
        </p:txBody>
      </p:sp>
      <p:sp>
        <p:nvSpPr>
          <p:cNvPr id="108" name="Shape 106"/>
          <p:cNvSpPr/>
          <p:nvPr/>
        </p:nvSpPr>
        <p:spPr>
          <a:xfrm>
            <a:off x="5477256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088636" y="1207008"/>
            <a:ext cx="777240" cy="256032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10" name="Text 108"/>
          <p:cNvSpPr/>
          <p:nvPr/>
        </p:nvSpPr>
        <p:spPr>
          <a:xfrm>
            <a:off x="5088636" y="1207008"/>
            <a:ext cx="5829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AX회계본부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5648249" y="1207008"/>
            <a:ext cx="202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10</a:t>
            </a:r>
            <a:endParaRPr lang="en-US" sz="550" dirty="0"/>
          </a:p>
        </p:txBody>
      </p:sp>
      <p:sp>
        <p:nvSpPr>
          <p:cNvPr id="112" name="Shape 110"/>
          <p:cNvSpPr/>
          <p:nvPr/>
        </p:nvSpPr>
        <p:spPr>
          <a:xfrm>
            <a:off x="5477256" y="1463040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120640" y="1664208"/>
            <a:ext cx="713232" cy="52120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120640" y="1664208"/>
            <a:ext cx="713232" cy="201168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15" name="Text 113"/>
          <p:cNvSpPr/>
          <p:nvPr/>
        </p:nvSpPr>
        <p:spPr>
          <a:xfrm>
            <a:off x="5138928" y="1664208"/>
            <a:ext cx="4849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회계부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605638" y="1664208"/>
            <a:ext cx="213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9</a:t>
            </a:r>
            <a:endParaRPr lang="en-US" sz="550" dirty="0"/>
          </a:p>
        </p:txBody>
      </p:sp>
      <p:sp>
        <p:nvSpPr>
          <p:cNvPr id="117" name="Shape 115"/>
          <p:cNvSpPr/>
          <p:nvPr/>
        </p:nvSpPr>
        <p:spPr>
          <a:xfrm>
            <a:off x="5157216" y="193395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18" name="Text 116"/>
          <p:cNvSpPr/>
          <p:nvPr/>
        </p:nvSpPr>
        <p:spPr>
          <a:xfrm>
            <a:off x="5212080" y="1879092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연결회계팀</a:t>
            </a:r>
            <a:endParaRPr lang="en-US" sz="550" dirty="0"/>
          </a:p>
        </p:txBody>
      </p:sp>
      <p:sp>
        <p:nvSpPr>
          <p:cNvPr id="119" name="Text 117"/>
          <p:cNvSpPr/>
          <p:nvPr/>
        </p:nvSpPr>
        <p:spPr>
          <a:xfrm>
            <a:off x="5605638" y="1879092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500" dirty="0"/>
          </a:p>
        </p:txBody>
      </p:sp>
      <p:sp>
        <p:nvSpPr>
          <p:cNvPr id="120" name="Shape 118"/>
          <p:cNvSpPr/>
          <p:nvPr/>
        </p:nvSpPr>
        <p:spPr>
          <a:xfrm>
            <a:off x="5157216" y="208026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21" name="Text 119"/>
          <p:cNvSpPr/>
          <p:nvPr/>
        </p:nvSpPr>
        <p:spPr>
          <a:xfrm>
            <a:off x="5212080" y="2025396"/>
            <a:ext cx="39227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재무회계팀</a:t>
            </a:r>
            <a:endParaRPr lang="en-US" sz="550" dirty="0"/>
          </a:p>
        </p:txBody>
      </p:sp>
      <p:sp>
        <p:nvSpPr>
          <p:cNvPr id="122" name="Text 120"/>
          <p:cNvSpPr/>
          <p:nvPr/>
        </p:nvSpPr>
        <p:spPr>
          <a:xfrm>
            <a:off x="5605638" y="2025396"/>
            <a:ext cx="1997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500" dirty="0"/>
          </a:p>
        </p:txBody>
      </p:sp>
      <p:sp>
        <p:nvSpPr>
          <p:cNvPr id="123" name="Shape 121"/>
          <p:cNvSpPr/>
          <p:nvPr/>
        </p:nvSpPr>
        <p:spPr>
          <a:xfrm>
            <a:off x="6382512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993892" y="1207008"/>
            <a:ext cx="777240" cy="256032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25" name="Text 123"/>
          <p:cNvSpPr/>
          <p:nvPr/>
        </p:nvSpPr>
        <p:spPr>
          <a:xfrm>
            <a:off x="5993892" y="1207008"/>
            <a:ext cx="5829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미래사업추진단</a:t>
            </a:r>
            <a:endParaRPr lang="en-US" sz="750" dirty="0"/>
          </a:p>
        </p:txBody>
      </p:sp>
      <p:sp>
        <p:nvSpPr>
          <p:cNvPr id="126" name="Text 124"/>
          <p:cNvSpPr/>
          <p:nvPr/>
        </p:nvSpPr>
        <p:spPr>
          <a:xfrm>
            <a:off x="6553505" y="1207008"/>
            <a:ext cx="202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550" dirty="0"/>
          </a:p>
        </p:txBody>
      </p:sp>
      <p:sp>
        <p:nvSpPr>
          <p:cNvPr id="127" name="Shape 125"/>
          <p:cNvSpPr/>
          <p:nvPr/>
        </p:nvSpPr>
        <p:spPr>
          <a:xfrm>
            <a:off x="7287768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899148" y="1207008"/>
            <a:ext cx="777240" cy="256032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29" name="Text 127"/>
          <p:cNvSpPr/>
          <p:nvPr/>
        </p:nvSpPr>
        <p:spPr>
          <a:xfrm>
            <a:off x="6899148" y="1207008"/>
            <a:ext cx="5829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AX정보보안실</a:t>
            </a:r>
            <a:endParaRPr lang="en-US" sz="750" dirty="0"/>
          </a:p>
        </p:txBody>
      </p:sp>
      <p:sp>
        <p:nvSpPr>
          <p:cNvPr id="130" name="Text 128"/>
          <p:cNvSpPr/>
          <p:nvPr/>
        </p:nvSpPr>
        <p:spPr>
          <a:xfrm>
            <a:off x="7458761" y="1207008"/>
            <a:ext cx="202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550" dirty="0"/>
          </a:p>
        </p:txBody>
      </p:sp>
      <p:sp>
        <p:nvSpPr>
          <p:cNvPr id="131" name="Shape 129"/>
          <p:cNvSpPr/>
          <p:nvPr/>
        </p:nvSpPr>
        <p:spPr>
          <a:xfrm>
            <a:off x="8193024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804404" y="1207008"/>
            <a:ext cx="777240" cy="256032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33" name="Text 131"/>
          <p:cNvSpPr/>
          <p:nvPr/>
        </p:nvSpPr>
        <p:spPr>
          <a:xfrm>
            <a:off x="7804404" y="1207008"/>
            <a:ext cx="5829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감사부</a:t>
            </a:r>
            <a:endParaRPr lang="en-US" sz="750" dirty="0"/>
          </a:p>
        </p:txBody>
      </p:sp>
      <p:sp>
        <p:nvSpPr>
          <p:cNvPr id="134" name="Text 132"/>
          <p:cNvSpPr/>
          <p:nvPr/>
        </p:nvSpPr>
        <p:spPr>
          <a:xfrm>
            <a:off x="8364017" y="1207008"/>
            <a:ext cx="2020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550" dirty="0"/>
          </a:p>
        </p:txBody>
      </p:sp>
      <p:sp>
        <p:nvSpPr>
          <p:cNvPr id="135" name="Shape 133"/>
          <p:cNvSpPr/>
          <p:nvPr/>
        </p:nvSpPr>
        <p:spPr>
          <a:xfrm>
            <a:off x="8193024" y="1463040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7836408" y="1664208"/>
            <a:ext cx="713232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7836408" y="1664208"/>
            <a:ext cx="713232" cy="201168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38" name="Text 136"/>
          <p:cNvSpPr/>
          <p:nvPr/>
        </p:nvSpPr>
        <p:spPr>
          <a:xfrm>
            <a:off x="7854696" y="1664208"/>
            <a:ext cx="4849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감사1팀</a:t>
            </a:r>
            <a:endParaRPr lang="en-US" sz="650" dirty="0"/>
          </a:p>
        </p:txBody>
      </p:sp>
      <p:sp>
        <p:nvSpPr>
          <p:cNvPr id="139" name="Text 137"/>
          <p:cNvSpPr/>
          <p:nvPr/>
        </p:nvSpPr>
        <p:spPr>
          <a:xfrm>
            <a:off x="8321406" y="1664208"/>
            <a:ext cx="213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550" dirty="0"/>
          </a:p>
        </p:txBody>
      </p:sp>
      <p:sp>
        <p:nvSpPr>
          <p:cNvPr id="140" name="Shape 138"/>
          <p:cNvSpPr/>
          <p:nvPr/>
        </p:nvSpPr>
        <p:spPr>
          <a:xfrm>
            <a:off x="8193024" y="1865376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7836408" y="1920240"/>
            <a:ext cx="713232" cy="20116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7836408" y="1920240"/>
            <a:ext cx="713232" cy="201168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43" name="Text 141"/>
          <p:cNvSpPr/>
          <p:nvPr/>
        </p:nvSpPr>
        <p:spPr>
          <a:xfrm>
            <a:off x="7854696" y="1920240"/>
            <a:ext cx="48499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감사2팀</a:t>
            </a:r>
            <a:endParaRPr lang="en-US" sz="650" dirty="0"/>
          </a:p>
        </p:txBody>
      </p:sp>
      <p:sp>
        <p:nvSpPr>
          <p:cNvPr id="144" name="Text 142"/>
          <p:cNvSpPr/>
          <p:nvPr/>
        </p:nvSpPr>
        <p:spPr>
          <a:xfrm>
            <a:off x="8321406" y="1920240"/>
            <a:ext cx="2139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550" dirty="0"/>
          </a:p>
        </p:txBody>
      </p:sp>
      <p:sp>
        <p:nvSpPr>
          <p:cNvPr id="145" name="Shape 143"/>
          <p:cNvSpPr/>
          <p:nvPr/>
        </p:nvSpPr>
        <p:spPr>
          <a:xfrm>
            <a:off x="457200" y="6592824"/>
            <a:ext cx="91440" cy="91440"/>
          </a:xfrm>
          <a:prstGeom prst="ellipse">
            <a:avLst/>
          </a:prstGeom>
          <a:solidFill>
            <a:srgbClr val="5BA0D9"/>
          </a:solidFill>
          <a:ln/>
        </p:spPr>
      </p:sp>
      <p:sp>
        <p:nvSpPr>
          <p:cNvPr id="146" name="Text 144"/>
          <p:cNvSpPr/>
          <p:nvPr/>
        </p:nvSpPr>
        <p:spPr>
          <a:xfrm>
            <a:off x="58521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본부</a:t>
            </a:r>
            <a:endParaRPr lang="en-US" sz="700" dirty="0"/>
          </a:p>
        </p:txBody>
      </p:sp>
      <p:sp>
        <p:nvSpPr>
          <p:cNvPr id="147" name="Shape 145"/>
          <p:cNvSpPr/>
          <p:nvPr/>
        </p:nvSpPr>
        <p:spPr>
          <a:xfrm>
            <a:off x="1645920" y="6592824"/>
            <a:ext cx="91440" cy="91440"/>
          </a:xfrm>
          <a:prstGeom prst="ellipse">
            <a:avLst/>
          </a:prstGeom>
          <a:solidFill>
            <a:srgbClr val="FCAF17"/>
          </a:solidFill>
          <a:ln/>
        </p:spPr>
      </p:sp>
      <p:sp>
        <p:nvSpPr>
          <p:cNvPr id="148" name="Text 146"/>
          <p:cNvSpPr/>
          <p:nvPr/>
        </p:nvSpPr>
        <p:spPr>
          <a:xfrm>
            <a:off x="177393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부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2834640" y="6592824"/>
            <a:ext cx="91440" cy="91440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50" name="Text 148"/>
          <p:cNvSpPr/>
          <p:nvPr/>
        </p:nvSpPr>
        <p:spPr>
          <a:xfrm>
            <a:off x="296265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센터/파트</a:t>
            </a:r>
            <a:endParaRPr lang="en-US" sz="700" dirty="0"/>
          </a:p>
        </p:txBody>
      </p:sp>
      <p:sp>
        <p:nvSpPr>
          <p:cNvPr id="151" name="Text 149"/>
          <p:cNvSpPr/>
          <p:nvPr/>
        </p:nvSpPr>
        <p:spPr>
          <a:xfrm>
            <a:off x="6400800" y="65379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OK금융그룹 인사부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5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474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OK저축은행 조직도 — 1/2 (AI디지털본, AX-CSR, AX경영관리, AX마케팅본, AX소비자금, AX신용관리, AX심사본부, AX영업본부…)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8572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954명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6" name="Shape 4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solidFill>
            <a:srgbClr val="E8572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OK저축은행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932688"/>
            <a:ext cx="0" cy="13716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7633" y="1069848"/>
            <a:ext cx="7608733" cy="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7633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765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2" name="Text 10"/>
          <p:cNvSpPr/>
          <p:nvPr/>
        </p:nvSpPr>
        <p:spPr>
          <a:xfrm>
            <a:off x="307765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AI디지털본부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69976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27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767633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9571" y="1659013"/>
            <a:ext cx="836125" cy="370243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9571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7" name="Text 15"/>
          <p:cNvSpPr/>
          <p:nvPr/>
        </p:nvSpPr>
        <p:spPr>
          <a:xfrm>
            <a:off x="367859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AX-IT부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918136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386147" y="192618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0" name="Text 18"/>
          <p:cNvSpPr/>
          <p:nvPr/>
        </p:nvSpPr>
        <p:spPr>
          <a:xfrm>
            <a:off x="441011" y="1873399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IT기획팀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8136" y="1873399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</a:t>
            </a:r>
            <a:endParaRPr lang="en-US" sz="600" dirty="0"/>
          </a:p>
        </p:txBody>
      </p:sp>
      <p:sp>
        <p:nvSpPr>
          <p:cNvPr id="22" name="Shape 20"/>
          <p:cNvSpPr/>
          <p:nvPr/>
        </p:nvSpPr>
        <p:spPr>
          <a:xfrm>
            <a:off x="767633" y="2029256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9571" y="2084120"/>
            <a:ext cx="836125" cy="51238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9571" y="2084120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25" name="Text 23"/>
          <p:cNvSpPr/>
          <p:nvPr/>
        </p:nvSpPr>
        <p:spPr>
          <a:xfrm>
            <a:off x="367859" y="2084120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AX부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918136" y="2084120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10</a:t>
            </a:r>
            <a:endParaRPr lang="en-US" sz="650" dirty="0"/>
          </a:p>
        </p:txBody>
      </p:sp>
      <p:sp>
        <p:nvSpPr>
          <p:cNvPr id="27" name="Shape 25"/>
          <p:cNvSpPr/>
          <p:nvPr/>
        </p:nvSpPr>
        <p:spPr>
          <a:xfrm>
            <a:off x="386147" y="2351289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8" name="Text 26"/>
          <p:cNvSpPr/>
          <p:nvPr/>
        </p:nvSpPr>
        <p:spPr>
          <a:xfrm>
            <a:off x="441011" y="2298506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AX개발팀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918136" y="2298506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</a:t>
            </a:r>
            <a:endParaRPr lang="en-US" sz="600" dirty="0"/>
          </a:p>
        </p:txBody>
      </p:sp>
      <p:sp>
        <p:nvSpPr>
          <p:cNvPr id="30" name="Shape 28"/>
          <p:cNvSpPr/>
          <p:nvPr/>
        </p:nvSpPr>
        <p:spPr>
          <a:xfrm>
            <a:off x="386147" y="249343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31" name="Text 29"/>
          <p:cNvSpPr/>
          <p:nvPr/>
        </p:nvSpPr>
        <p:spPr>
          <a:xfrm>
            <a:off x="441011" y="2440647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AX기획팀</a:t>
            </a:r>
            <a:endParaRPr lang="en-US" sz="650" dirty="0"/>
          </a:p>
        </p:txBody>
      </p:sp>
      <p:sp>
        <p:nvSpPr>
          <p:cNvPr id="32" name="Text 30"/>
          <p:cNvSpPr/>
          <p:nvPr/>
        </p:nvSpPr>
        <p:spPr>
          <a:xfrm>
            <a:off x="918136" y="2440647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33" name="Shape 31"/>
          <p:cNvSpPr/>
          <p:nvPr/>
        </p:nvSpPr>
        <p:spPr>
          <a:xfrm>
            <a:off x="767633" y="2596505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9571" y="2651369"/>
            <a:ext cx="836125" cy="51238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9571" y="2651369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36" name="Text 34"/>
          <p:cNvSpPr/>
          <p:nvPr/>
        </p:nvSpPr>
        <p:spPr>
          <a:xfrm>
            <a:off x="367859" y="2651369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DX부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918136" y="2651369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9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386147" y="2918537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39" name="Text 37"/>
          <p:cNvSpPr/>
          <p:nvPr/>
        </p:nvSpPr>
        <p:spPr>
          <a:xfrm>
            <a:off x="441011" y="2865755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마이데이터개…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918136" y="2865755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41" name="Shape 39"/>
          <p:cNvSpPr/>
          <p:nvPr/>
        </p:nvSpPr>
        <p:spPr>
          <a:xfrm>
            <a:off x="386147" y="306067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42" name="Text 40"/>
          <p:cNvSpPr/>
          <p:nvPr/>
        </p:nvSpPr>
        <p:spPr>
          <a:xfrm>
            <a:off x="441011" y="3007896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마이데이터운…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918136" y="3007896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</a:t>
            </a:r>
            <a:endParaRPr lang="en-US" sz="600" dirty="0"/>
          </a:p>
        </p:txBody>
      </p:sp>
      <p:sp>
        <p:nvSpPr>
          <p:cNvPr id="44" name="Shape 42"/>
          <p:cNvSpPr/>
          <p:nvPr/>
        </p:nvSpPr>
        <p:spPr>
          <a:xfrm>
            <a:off x="1854595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94727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46" name="Text 44"/>
          <p:cNvSpPr/>
          <p:nvPr/>
        </p:nvSpPr>
        <p:spPr>
          <a:xfrm>
            <a:off x="1394727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AX-CSR본…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2056937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9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1854595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436533" y="1659013"/>
            <a:ext cx="836125" cy="200670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436533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51" name="Text 49"/>
          <p:cNvSpPr/>
          <p:nvPr/>
        </p:nvSpPr>
        <p:spPr>
          <a:xfrm>
            <a:off x="1454821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스포츠단사무…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2005098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53" name="Shape 51"/>
          <p:cNvSpPr/>
          <p:nvPr/>
        </p:nvSpPr>
        <p:spPr>
          <a:xfrm>
            <a:off x="2941557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481689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55" name="Text 53"/>
          <p:cNvSpPr/>
          <p:nvPr/>
        </p:nvSpPr>
        <p:spPr>
          <a:xfrm>
            <a:off x="2481689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AX경영관리본…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143899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89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2941557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2523495" y="1659013"/>
            <a:ext cx="836125" cy="51238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2523495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60" name="Text 58"/>
          <p:cNvSpPr/>
          <p:nvPr/>
        </p:nvSpPr>
        <p:spPr>
          <a:xfrm>
            <a:off x="2541783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AX경영기획…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3092060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16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2560071" y="192618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63" name="Text 61"/>
          <p:cNvSpPr/>
          <p:nvPr/>
        </p:nvSpPr>
        <p:spPr>
          <a:xfrm>
            <a:off x="2614935" y="1873399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경영기획팀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3092060" y="1873399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8</a:t>
            </a:r>
            <a:endParaRPr lang="en-US" sz="600" dirty="0"/>
          </a:p>
        </p:txBody>
      </p:sp>
      <p:sp>
        <p:nvSpPr>
          <p:cNvPr id="65" name="Shape 63"/>
          <p:cNvSpPr/>
          <p:nvPr/>
        </p:nvSpPr>
        <p:spPr>
          <a:xfrm>
            <a:off x="2560071" y="2068323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66" name="Text 64"/>
          <p:cNvSpPr/>
          <p:nvPr/>
        </p:nvSpPr>
        <p:spPr>
          <a:xfrm>
            <a:off x="2614935" y="2015540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재무회계팀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3092060" y="2015540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00" dirty="0"/>
          </a:p>
        </p:txBody>
      </p:sp>
      <p:sp>
        <p:nvSpPr>
          <p:cNvPr id="68" name="Shape 66"/>
          <p:cNvSpPr/>
          <p:nvPr/>
        </p:nvSpPr>
        <p:spPr>
          <a:xfrm>
            <a:off x="2941557" y="2171398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523495" y="2226262"/>
            <a:ext cx="836125" cy="796667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2523495" y="2226262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71" name="Text 69"/>
          <p:cNvSpPr/>
          <p:nvPr/>
        </p:nvSpPr>
        <p:spPr>
          <a:xfrm>
            <a:off x="2541783" y="2226262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AX경영지원…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3092060" y="2226262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72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2560071" y="249343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74" name="Text 72"/>
          <p:cNvSpPr/>
          <p:nvPr/>
        </p:nvSpPr>
        <p:spPr>
          <a:xfrm>
            <a:off x="2614935" y="2440647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인사팀</a:t>
            </a:r>
            <a:endParaRPr lang="en-US" sz="650" dirty="0"/>
          </a:p>
        </p:txBody>
      </p:sp>
      <p:sp>
        <p:nvSpPr>
          <p:cNvPr id="75" name="Text 73"/>
          <p:cNvSpPr/>
          <p:nvPr/>
        </p:nvSpPr>
        <p:spPr>
          <a:xfrm>
            <a:off x="3092060" y="2440647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00" dirty="0"/>
          </a:p>
        </p:txBody>
      </p:sp>
      <p:sp>
        <p:nvSpPr>
          <p:cNvPr id="76" name="Shape 74"/>
          <p:cNvSpPr/>
          <p:nvPr/>
        </p:nvSpPr>
        <p:spPr>
          <a:xfrm>
            <a:off x="2560071" y="2635571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77" name="Text 75"/>
          <p:cNvSpPr/>
          <p:nvPr/>
        </p:nvSpPr>
        <p:spPr>
          <a:xfrm>
            <a:off x="2614935" y="2582789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자금운용팀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3092060" y="2582789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79" name="Shape 77"/>
          <p:cNvSpPr/>
          <p:nvPr/>
        </p:nvSpPr>
        <p:spPr>
          <a:xfrm>
            <a:off x="2560071" y="27777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80" name="Text 78"/>
          <p:cNvSpPr/>
          <p:nvPr/>
        </p:nvSpPr>
        <p:spPr>
          <a:xfrm>
            <a:off x="2614935" y="2724930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총무팀</a:t>
            </a:r>
            <a:endParaRPr lang="en-US" sz="650" dirty="0"/>
          </a:p>
        </p:txBody>
      </p:sp>
      <p:sp>
        <p:nvSpPr>
          <p:cNvPr id="81" name="Text 79"/>
          <p:cNvSpPr/>
          <p:nvPr/>
        </p:nvSpPr>
        <p:spPr>
          <a:xfrm>
            <a:off x="3092060" y="2724930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00" dirty="0"/>
          </a:p>
        </p:txBody>
      </p:sp>
      <p:sp>
        <p:nvSpPr>
          <p:cNvPr id="82" name="Shape 80"/>
          <p:cNvSpPr/>
          <p:nvPr/>
        </p:nvSpPr>
        <p:spPr>
          <a:xfrm>
            <a:off x="2560071" y="291985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83" name="Text 81"/>
          <p:cNvSpPr/>
          <p:nvPr/>
        </p:nvSpPr>
        <p:spPr>
          <a:xfrm>
            <a:off x="2614935" y="2867071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휴직자소속</a:t>
            </a:r>
            <a:endParaRPr lang="en-US" sz="650" dirty="0"/>
          </a:p>
        </p:txBody>
      </p:sp>
      <p:sp>
        <p:nvSpPr>
          <p:cNvPr id="84" name="Text 82"/>
          <p:cNvSpPr/>
          <p:nvPr/>
        </p:nvSpPr>
        <p:spPr>
          <a:xfrm>
            <a:off x="3092060" y="2867071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57</a:t>
            </a:r>
            <a:endParaRPr lang="en-US" sz="600" dirty="0"/>
          </a:p>
        </p:txBody>
      </p:sp>
      <p:sp>
        <p:nvSpPr>
          <p:cNvPr id="85" name="Shape 83"/>
          <p:cNvSpPr/>
          <p:nvPr/>
        </p:nvSpPr>
        <p:spPr>
          <a:xfrm>
            <a:off x="4028519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3568651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87" name="Text 85"/>
          <p:cNvSpPr/>
          <p:nvPr/>
        </p:nvSpPr>
        <p:spPr>
          <a:xfrm>
            <a:off x="3568651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AX마케팅본부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4230861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39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028519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610457" y="1659013"/>
            <a:ext cx="836125" cy="93880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610457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92" name="Text 90"/>
          <p:cNvSpPr/>
          <p:nvPr/>
        </p:nvSpPr>
        <p:spPr>
          <a:xfrm>
            <a:off x="3628745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AX리테일기…</a:t>
            </a:r>
            <a:endParaRPr lang="en-US" sz="750" dirty="0"/>
          </a:p>
        </p:txBody>
      </p:sp>
      <p:sp>
        <p:nvSpPr>
          <p:cNvPr id="93" name="Text 91"/>
          <p:cNvSpPr/>
          <p:nvPr/>
        </p:nvSpPr>
        <p:spPr>
          <a:xfrm>
            <a:off x="4179021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27</a:t>
            </a:r>
            <a:endParaRPr lang="en-US" sz="650" dirty="0"/>
          </a:p>
        </p:txBody>
      </p:sp>
      <p:sp>
        <p:nvSpPr>
          <p:cNvPr id="94" name="Shape 92"/>
          <p:cNvSpPr/>
          <p:nvPr/>
        </p:nvSpPr>
        <p:spPr>
          <a:xfrm>
            <a:off x="3647033" y="192618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95" name="Text 93"/>
          <p:cNvSpPr/>
          <p:nvPr/>
        </p:nvSpPr>
        <p:spPr>
          <a:xfrm>
            <a:off x="3701897" y="1873399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CRM마케팅…</a:t>
            </a:r>
            <a:endParaRPr lang="en-US" sz="650" dirty="0"/>
          </a:p>
        </p:txBody>
      </p:sp>
      <p:sp>
        <p:nvSpPr>
          <p:cNvPr id="96" name="Text 94"/>
          <p:cNvSpPr/>
          <p:nvPr/>
        </p:nvSpPr>
        <p:spPr>
          <a:xfrm>
            <a:off x="4179021" y="1873399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97" name="Shape 95"/>
          <p:cNvSpPr/>
          <p:nvPr/>
        </p:nvSpPr>
        <p:spPr>
          <a:xfrm>
            <a:off x="3647033" y="2068323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98" name="Text 96"/>
          <p:cNvSpPr/>
          <p:nvPr/>
        </p:nvSpPr>
        <p:spPr>
          <a:xfrm>
            <a:off x="3701897" y="2015540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디지털데이터…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4179021" y="2015540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100" name="Shape 98"/>
          <p:cNvSpPr/>
          <p:nvPr/>
        </p:nvSpPr>
        <p:spPr>
          <a:xfrm>
            <a:off x="3647033" y="221046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01" name="Text 99"/>
          <p:cNvSpPr/>
          <p:nvPr/>
        </p:nvSpPr>
        <p:spPr>
          <a:xfrm>
            <a:off x="3701897" y="2157682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디지털운영팀</a:t>
            </a:r>
            <a:endParaRPr lang="en-US" sz="650" dirty="0"/>
          </a:p>
        </p:txBody>
      </p:sp>
      <p:sp>
        <p:nvSpPr>
          <p:cNvPr id="102" name="Text 100"/>
          <p:cNvSpPr/>
          <p:nvPr/>
        </p:nvSpPr>
        <p:spPr>
          <a:xfrm>
            <a:off x="4179021" y="2157682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103" name="Shape 101"/>
          <p:cNvSpPr/>
          <p:nvPr/>
        </p:nvSpPr>
        <p:spPr>
          <a:xfrm>
            <a:off x="3647033" y="2352605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04" name="Text 102"/>
          <p:cNvSpPr/>
          <p:nvPr/>
        </p:nvSpPr>
        <p:spPr>
          <a:xfrm>
            <a:off x="3701897" y="2299823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리테일기획팀</a:t>
            </a:r>
            <a:endParaRPr lang="en-US" sz="650" dirty="0"/>
          </a:p>
        </p:txBody>
      </p:sp>
      <p:sp>
        <p:nvSpPr>
          <p:cNvPr id="105" name="Text 103"/>
          <p:cNvSpPr/>
          <p:nvPr/>
        </p:nvSpPr>
        <p:spPr>
          <a:xfrm>
            <a:off x="4179021" y="2299823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18</a:t>
            </a:r>
            <a:endParaRPr lang="en-US" sz="600" dirty="0"/>
          </a:p>
        </p:txBody>
      </p:sp>
      <p:sp>
        <p:nvSpPr>
          <p:cNvPr id="106" name="Text 104"/>
          <p:cNvSpPr/>
          <p:nvPr/>
        </p:nvSpPr>
        <p:spPr>
          <a:xfrm>
            <a:off x="3610457" y="2441964"/>
            <a:ext cx="83612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외 1개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4028519" y="2597821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3610457" y="2652685"/>
            <a:ext cx="836125" cy="654525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610457" y="2652685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10" name="Text 108"/>
          <p:cNvSpPr/>
          <p:nvPr/>
        </p:nvSpPr>
        <p:spPr>
          <a:xfrm>
            <a:off x="3628745" y="2652685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AX마케팅부</a:t>
            </a:r>
            <a:endParaRPr lang="en-US" sz="750" dirty="0"/>
          </a:p>
        </p:txBody>
      </p:sp>
      <p:sp>
        <p:nvSpPr>
          <p:cNvPr id="111" name="Text 109"/>
          <p:cNvSpPr/>
          <p:nvPr/>
        </p:nvSpPr>
        <p:spPr>
          <a:xfrm>
            <a:off x="4179021" y="2652685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11</a:t>
            </a:r>
            <a:endParaRPr lang="en-US" sz="650" dirty="0"/>
          </a:p>
        </p:txBody>
      </p:sp>
      <p:sp>
        <p:nvSpPr>
          <p:cNvPr id="112" name="Shape 110"/>
          <p:cNvSpPr/>
          <p:nvPr/>
        </p:nvSpPr>
        <p:spPr>
          <a:xfrm>
            <a:off x="3647033" y="291985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13" name="Text 111"/>
          <p:cNvSpPr/>
          <p:nvPr/>
        </p:nvSpPr>
        <p:spPr>
          <a:xfrm>
            <a:off x="3701897" y="2867071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UX.UI팀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4179021" y="2867071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3647033" y="3061995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16" name="Text 114"/>
          <p:cNvSpPr/>
          <p:nvPr/>
        </p:nvSpPr>
        <p:spPr>
          <a:xfrm>
            <a:off x="3701897" y="3009212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디자인팀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4179021" y="3009212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118" name="Shape 116"/>
          <p:cNvSpPr/>
          <p:nvPr/>
        </p:nvSpPr>
        <p:spPr>
          <a:xfrm>
            <a:off x="3647033" y="320413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19" name="Text 117"/>
          <p:cNvSpPr/>
          <p:nvPr/>
        </p:nvSpPr>
        <p:spPr>
          <a:xfrm>
            <a:off x="3701897" y="3151353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마케팅팀</a:t>
            </a:r>
            <a:endParaRPr lang="en-US" sz="650" dirty="0"/>
          </a:p>
        </p:txBody>
      </p:sp>
      <p:sp>
        <p:nvSpPr>
          <p:cNvPr id="120" name="Text 118"/>
          <p:cNvSpPr/>
          <p:nvPr/>
        </p:nvSpPr>
        <p:spPr>
          <a:xfrm>
            <a:off x="4179021" y="3151353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00" dirty="0"/>
          </a:p>
        </p:txBody>
      </p:sp>
      <p:sp>
        <p:nvSpPr>
          <p:cNvPr id="121" name="Shape 119"/>
          <p:cNvSpPr/>
          <p:nvPr/>
        </p:nvSpPr>
        <p:spPr>
          <a:xfrm>
            <a:off x="5115481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4655612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23" name="Text 121"/>
          <p:cNvSpPr/>
          <p:nvPr/>
        </p:nvSpPr>
        <p:spPr>
          <a:xfrm>
            <a:off x="4655612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AX소비자금융…</a:t>
            </a:r>
            <a:endParaRPr lang="en-US" sz="900" dirty="0"/>
          </a:p>
        </p:txBody>
      </p:sp>
      <p:sp>
        <p:nvSpPr>
          <p:cNvPr id="124" name="Text 122"/>
          <p:cNvSpPr/>
          <p:nvPr/>
        </p:nvSpPr>
        <p:spPr>
          <a:xfrm>
            <a:off x="5317823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422</a:t>
            </a:r>
            <a:endParaRPr lang="en-US" sz="700" dirty="0"/>
          </a:p>
        </p:txBody>
      </p:sp>
      <p:sp>
        <p:nvSpPr>
          <p:cNvPr id="125" name="Shape 123"/>
          <p:cNvSpPr/>
          <p:nvPr/>
        </p:nvSpPr>
        <p:spPr>
          <a:xfrm>
            <a:off x="5115481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4697419" y="1659013"/>
            <a:ext cx="836125" cy="796667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697419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28" name="Text 126"/>
          <p:cNvSpPr/>
          <p:nvPr/>
        </p:nvSpPr>
        <p:spPr>
          <a:xfrm>
            <a:off x="4715707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AX소비자금…</a:t>
            </a:r>
            <a:endParaRPr lang="en-US" sz="750" dirty="0"/>
          </a:p>
        </p:txBody>
      </p:sp>
      <p:sp>
        <p:nvSpPr>
          <p:cNvPr id="129" name="Text 127"/>
          <p:cNvSpPr/>
          <p:nvPr/>
        </p:nvSpPr>
        <p:spPr>
          <a:xfrm>
            <a:off x="5265983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35</a:t>
            </a:r>
            <a:endParaRPr lang="en-US" sz="650" dirty="0"/>
          </a:p>
        </p:txBody>
      </p:sp>
      <p:sp>
        <p:nvSpPr>
          <p:cNvPr id="130" name="Shape 128"/>
          <p:cNvSpPr/>
          <p:nvPr/>
        </p:nvSpPr>
        <p:spPr>
          <a:xfrm>
            <a:off x="4733995" y="192618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31" name="Text 129"/>
          <p:cNvSpPr/>
          <p:nvPr/>
        </p:nvSpPr>
        <p:spPr>
          <a:xfrm>
            <a:off x="4788859" y="1873399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LP영업팀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5265983" y="1873399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13</a:t>
            </a:r>
            <a:endParaRPr lang="en-US" sz="600" dirty="0"/>
          </a:p>
        </p:txBody>
      </p:sp>
      <p:sp>
        <p:nvSpPr>
          <p:cNvPr id="133" name="Shape 131"/>
          <p:cNvSpPr/>
          <p:nvPr/>
        </p:nvSpPr>
        <p:spPr>
          <a:xfrm>
            <a:off x="4733995" y="2068323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34" name="Text 132"/>
          <p:cNvSpPr/>
          <p:nvPr/>
        </p:nvSpPr>
        <p:spPr>
          <a:xfrm>
            <a:off x="4788859" y="2015540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글로벌여신팀</a:t>
            </a:r>
            <a:endParaRPr lang="en-US" sz="650" dirty="0"/>
          </a:p>
        </p:txBody>
      </p:sp>
      <p:sp>
        <p:nvSpPr>
          <p:cNvPr id="135" name="Text 133"/>
          <p:cNvSpPr/>
          <p:nvPr/>
        </p:nvSpPr>
        <p:spPr>
          <a:xfrm>
            <a:off x="5265983" y="2015540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9</a:t>
            </a:r>
            <a:endParaRPr lang="en-US" sz="600" dirty="0"/>
          </a:p>
        </p:txBody>
      </p:sp>
      <p:sp>
        <p:nvSpPr>
          <p:cNvPr id="136" name="Shape 134"/>
          <p:cNvSpPr/>
          <p:nvPr/>
        </p:nvSpPr>
        <p:spPr>
          <a:xfrm>
            <a:off x="4733995" y="221046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37" name="Text 135"/>
          <p:cNvSpPr/>
          <p:nvPr/>
        </p:nvSpPr>
        <p:spPr>
          <a:xfrm>
            <a:off x="4788859" y="2157682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소비자금융기…</a:t>
            </a:r>
            <a:endParaRPr lang="en-US" sz="650" dirty="0"/>
          </a:p>
        </p:txBody>
      </p:sp>
      <p:sp>
        <p:nvSpPr>
          <p:cNvPr id="138" name="Text 136"/>
          <p:cNvSpPr/>
          <p:nvPr/>
        </p:nvSpPr>
        <p:spPr>
          <a:xfrm>
            <a:off x="5265983" y="2157682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00" dirty="0"/>
          </a:p>
        </p:txBody>
      </p:sp>
      <p:sp>
        <p:nvSpPr>
          <p:cNvPr id="139" name="Shape 137"/>
          <p:cNvSpPr/>
          <p:nvPr/>
        </p:nvSpPr>
        <p:spPr>
          <a:xfrm>
            <a:off x="4733995" y="2352605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40" name="Text 138"/>
          <p:cNvSpPr/>
          <p:nvPr/>
        </p:nvSpPr>
        <p:spPr>
          <a:xfrm>
            <a:off x="4788859" y="2299823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채널기획팀</a:t>
            </a:r>
            <a:endParaRPr lang="en-US" sz="650" dirty="0"/>
          </a:p>
        </p:txBody>
      </p:sp>
      <p:sp>
        <p:nvSpPr>
          <p:cNvPr id="141" name="Text 139"/>
          <p:cNvSpPr/>
          <p:nvPr/>
        </p:nvSpPr>
        <p:spPr>
          <a:xfrm>
            <a:off x="5265983" y="2299823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29</a:t>
            </a:r>
            <a:endParaRPr lang="en-US" sz="600" dirty="0"/>
          </a:p>
        </p:txBody>
      </p:sp>
      <p:sp>
        <p:nvSpPr>
          <p:cNvPr id="142" name="Shape 140"/>
          <p:cNvSpPr/>
          <p:nvPr/>
        </p:nvSpPr>
        <p:spPr>
          <a:xfrm>
            <a:off x="5115481" y="2455680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4697419" y="2510544"/>
            <a:ext cx="836125" cy="93880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4697419" y="2510544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45" name="Text 143"/>
          <p:cNvSpPr/>
          <p:nvPr/>
        </p:nvSpPr>
        <p:spPr>
          <a:xfrm>
            <a:off x="4715707" y="2510544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소비자금융영…</a:t>
            </a:r>
            <a:endParaRPr lang="en-US" sz="750" dirty="0"/>
          </a:p>
        </p:txBody>
      </p:sp>
      <p:sp>
        <p:nvSpPr>
          <p:cNvPr id="146" name="Text 144"/>
          <p:cNvSpPr/>
          <p:nvPr/>
        </p:nvSpPr>
        <p:spPr>
          <a:xfrm>
            <a:off x="5265983" y="2510544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386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4733995" y="27777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48" name="Text 146"/>
          <p:cNvSpPr/>
          <p:nvPr/>
        </p:nvSpPr>
        <p:spPr>
          <a:xfrm>
            <a:off x="4788859" y="2724930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NPL관리센…</a:t>
            </a:r>
            <a:endParaRPr lang="en-US" sz="650" dirty="0"/>
          </a:p>
        </p:txBody>
      </p:sp>
      <p:sp>
        <p:nvSpPr>
          <p:cNvPr id="149" name="Text 147"/>
          <p:cNvSpPr/>
          <p:nvPr/>
        </p:nvSpPr>
        <p:spPr>
          <a:xfrm>
            <a:off x="5265983" y="2724930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107</a:t>
            </a:r>
            <a:endParaRPr lang="en-US" sz="600" dirty="0"/>
          </a:p>
        </p:txBody>
      </p:sp>
      <p:sp>
        <p:nvSpPr>
          <p:cNvPr id="150" name="Shape 148"/>
          <p:cNvSpPr/>
          <p:nvPr/>
        </p:nvSpPr>
        <p:spPr>
          <a:xfrm>
            <a:off x="4733995" y="291985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51" name="Text 149"/>
          <p:cNvSpPr/>
          <p:nvPr/>
        </p:nvSpPr>
        <p:spPr>
          <a:xfrm>
            <a:off x="4788859" y="2867071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강남PL팀</a:t>
            </a:r>
            <a:endParaRPr lang="en-US" sz="650" dirty="0"/>
          </a:p>
        </p:txBody>
      </p:sp>
      <p:sp>
        <p:nvSpPr>
          <p:cNvPr id="152" name="Text 150"/>
          <p:cNvSpPr/>
          <p:nvPr/>
        </p:nvSpPr>
        <p:spPr>
          <a:xfrm>
            <a:off x="5265983" y="2867071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11</a:t>
            </a:r>
            <a:endParaRPr lang="en-US" sz="600" dirty="0"/>
          </a:p>
        </p:txBody>
      </p:sp>
      <p:sp>
        <p:nvSpPr>
          <p:cNvPr id="153" name="Shape 151"/>
          <p:cNvSpPr/>
          <p:nvPr/>
        </p:nvSpPr>
        <p:spPr>
          <a:xfrm>
            <a:off x="4733995" y="3061995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54" name="Text 152"/>
          <p:cNvSpPr/>
          <p:nvPr/>
        </p:nvSpPr>
        <p:spPr>
          <a:xfrm>
            <a:off x="4788859" y="3009212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광주PL팀</a:t>
            </a:r>
            <a:endParaRPr lang="en-US" sz="650" dirty="0"/>
          </a:p>
        </p:txBody>
      </p:sp>
      <p:sp>
        <p:nvSpPr>
          <p:cNvPr id="155" name="Text 153"/>
          <p:cNvSpPr/>
          <p:nvPr/>
        </p:nvSpPr>
        <p:spPr>
          <a:xfrm>
            <a:off x="5265983" y="3009212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12</a:t>
            </a:r>
            <a:endParaRPr lang="en-US" sz="600" dirty="0"/>
          </a:p>
        </p:txBody>
      </p:sp>
      <p:sp>
        <p:nvSpPr>
          <p:cNvPr id="156" name="Shape 154"/>
          <p:cNvSpPr/>
          <p:nvPr/>
        </p:nvSpPr>
        <p:spPr>
          <a:xfrm>
            <a:off x="4733995" y="320413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57" name="Text 155"/>
          <p:cNvSpPr/>
          <p:nvPr/>
        </p:nvSpPr>
        <p:spPr>
          <a:xfrm>
            <a:off x="4788859" y="3151353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구월PL팀</a:t>
            </a:r>
            <a:endParaRPr lang="en-US" sz="650" dirty="0"/>
          </a:p>
        </p:txBody>
      </p:sp>
      <p:sp>
        <p:nvSpPr>
          <p:cNvPr id="158" name="Text 156"/>
          <p:cNvSpPr/>
          <p:nvPr/>
        </p:nvSpPr>
        <p:spPr>
          <a:xfrm>
            <a:off x="5265983" y="3151353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12</a:t>
            </a:r>
            <a:endParaRPr lang="en-US" sz="600" dirty="0"/>
          </a:p>
        </p:txBody>
      </p:sp>
      <p:sp>
        <p:nvSpPr>
          <p:cNvPr id="159" name="Text 157"/>
          <p:cNvSpPr/>
          <p:nvPr/>
        </p:nvSpPr>
        <p:spPr>
          <a:xfrm>
            <a:off x="4697419" y="3293494"/>
            <a:ext cx="83612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외 27개</a:t>
            </a:r>
            <a:endParaRPr lang="en-US" sz="600" dirty="0"/>
          </a:p>
        </p:txBody>
      </p:sp>
      <p:sp>
        <p:nvSpPr>
          <p:cNvPr id="160" name="Shape 158"/>
          <p:cNvSpPr/>
          <p:nvPr/>
        </p:nvSpPr>
        <p:spPr>
          <a:xfrm>
            <a:off x="6202443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74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62" name="Text 160"/>
          <p:cNvSpPr/>
          <p:nvPr/>
        </p:nvSpPr>
        <p:spPr>
          <a:xfrm>
            <a:off x="5742574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AX신용관리본…</a:t>
            </a:r>
            <a:endParaRPr lang="en-US" sz="900" dirty="0"/>
          </a:p>
        </p:txBody>
      </p:sp>
      <p:sp>
        <p:nvSpPr>
          <p:cNvPr id="163" name="Text 161"/>
          <p:cNvSpPr/>
          <p:nvPr/>
        </p:nvSpPr>
        <p:spPr>
          <a:xfrm>
            <a:off x="6404785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16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6202443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784381" y="1659013"/>
            <a:ext cx="836125" cy="654525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784381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67" name="Text 165"/>
          <p:cNvSpPr/>
          <p:nvPr/>
        </p:nvSpPr>
        <p:spPr>
          <a:xfrm>
            <a:off x="5802669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AX신용관리…</a:t>
            </a:r>
            <a:endParaRPr lang="en-US" sz="750" dirty="0"/>
          </a:p>
        </p:txBody>
      </p:sp>
      <p:sp>
        <p:nvSpPr>
          <p:cNvPr id="168" name="Text 166"/>
          <p:cNvSpPr/>
          <p:nvPr/>
        </p:nvSpPr>
        <p:spPr>
          <a:xfrm>
            <a:off x="6352945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15</a:t>
            </a:r>
            <a:endParaRPr lang="en-US" sz="650" dirty="0"/>
          </a:p>
        </p:txBody>
      </p:sp>
      <p:sp>
        <p:nvSpPr>
          <p:cNvPr id="169" name="Shape 167"/>
          <p:cNvSpPr/>
          <p:nvPr/>
        </p:nvSpPr>
        <p:spPr>
          <a:xfrm>
            <a:off x="5820957" y="192618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70" name="Text 168"/>
          <p:cNvSpPr/>
          <p:nvPr/>
        </p:nvSpPr>
        <p:spPr>
          <a:xfrm>
            <a:off x="5875821" y="1873399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CSS관리팀</a:t>
            </a:r>
            <a:endParaRPr lang="en-US" sz="650" dirty="0"/>
          </a:p>
        </p:txBody>
      </p:sp>
      <p:sp>
        <p:nvSpPr>
          <p:cNvPr id="171" name="Text 169"/>
          <p:cNvSpPr/>
          <p:nvPr/>
        </p:nvSpPr>
        <p:spPr>
          <a:xfrm>
            <a:off x="6352945" y="1873399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00" dirty="0"/>
          </a:p>
        </p:txBody>
      </p:sp>
      <p:sp>
        <p:nvSpPr>
          <p:cNvPr id="172" name="Shape 170"/>
          <p:cNvSpPr/>
          <p:nvPr/>
        </p:nvSpPr>
        <p:spPr>
          <a:xfrm>
            <a:off x="5820957" y="2068323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73" name="Text 171"/>
          <p:cNvSpPr/>
          <p:nvPr/>
        </p:nvSpPr>
        <p:spPr>
          <a:xfrm>
            <a:off x="5875821" y="2015540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신용관리팀</a:t>
            </a:r>
            <a:endParaRPr lang="en-US" sz="650" dirty="0"/>
          </a:p>
        </p:txBody>
      </p:sp>
      <p:sp>
        <p:nvSpPr>
          <p:cNvPr id="174" name="Text 172"/>
          <p:cNvSpPr/>
          <p:nvPr/>
        </p:nvSpPr>
        <p:spPr>
          <a:xfrm>
            <a:off x="6352945" y="2015540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00" dirty="0"/>
          </a:p>
        </p:txBody>
      </p:sp>
      <p:sp>
        <p:nvSpPr>
          <p:cNvPr id="175" name="Shape 173"/>
          <p:cNvSpPr/>
          <p:nvPr/>
        </p:nvSpPr>
        <p:spPr>
          <a:xfrm>
            <a:off x="5820957" y="221046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76" name="Text 174"/>
          <p:cNvSpPr/>
          <p:nvPr/>
        </p:nvSpPr>
        <p:spPr>
          <a:xfrm>
            <a:off x="5875821" y="2157682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신용기획팀</a:t>
            </a:r>
            <a:endParaRPr lang="en-US" sz="650" dirty="0"/>
          </a:p>
        </p:txBody>
      </p:sp>
      <p:sp>
        <p:nvSpPr>
          <p:cNvPr id="177" name="Text 175"/>
          <p:cNvSpPr/>
          <p:nvPr/>
        </p:nvSpPr>
        <p:spPr>
          <a:xfrm>
            <a:off x="6352945" y="2157682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00" dirty="0"/>
          </a:p>
        </p:txBody>
      </p:sp>
      <p:sp>
        <p:nvSpPr>
          <p:cNvPr id="178" name="Shape 176"/>
          <p:cNvSpPr/>
          <p:nvPr/>
        </p:nvSpPr>
        <p:spPr>
          <a:xfrm>
            <a:off x="7289405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829536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80" name="Text 178"/>
          <p:cNvSpPr/>
          <p:nvPr/>
        </p:nvSpPr>
        <p:spPr>
          <a:xfrm>
            <a:off x="6829536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AX심사본부</a:t>
            </a:r>
            <a:endParaRPr lang="en-US" sz="900" dirty="0"/>
          </a:p>
        </p:txBody>
      </p:sp>
      <p:sp>
        <p:nvSpPr>
          <p:cNvPr id="181" name="Text 179"/>
          <p:cNvSpPr/>
          <p:nvPr/>
        </p:nvSpPr>
        <p:spPr>
          <a:xfrm>
            <a:off x="7491747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24</a:t>
            </a:r>
            <a:endParaRPr lang="en-US" sz="700" dirty="0"/>
          </a:p>
        </p:txBody>
      </p:sp>
      <p:sp>
        <p:nvSpPr>
          <p:cNvPr id="182" name="Shape 180"/>
          <p:cNvSpPr/>
          <p:nvPr/>
        </p:nvSpPr>
        <p:spPr>
          <a:xfrm>
            <a:off x="7289405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6871342" y="1659013"/>
            <a:ext cx="836125" cy="51238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6871342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85" name="Text 183"/>
          <p:cNvSpPr/>
          <p:nvPr/>
        </p:nvSpPr>
        <p:spPr>
          <a:xfrm>
            <a:off x="6889630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모기지심사부</a:t>
            </a:r>
            <a:endParaRPr lang="en-US" sz="750" dirty="0"/>
          </a:p>
        </p:txBody>
      </p:sp>
      <p:sp>
        <p:nvSpPr>
          <p:cNvPr id="186" name="Text 184"/>
          <p:cNvSpPr/>
          <p:nvPr/>
        </p:nvSpPr>
        <p:spPr>
          <a:xfrm>
            <a:off x="7439907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50" dirty="0"/>
          </a:p>
        </p:txBody>
      </p:sp>
      <p:sp>
        <p:nvSpPr>
          <p:cNvPr id="187" name="Shape 185"/>
          <p:cNvSpPr/>
          <p:nvPr/>
        </p:nvSpPr>
        <p:spPr>
          <a:xfrm>
            <a:off x="6907918" y="192618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88" name="Text 186"/>
          <p:cNvSpPr/>
          <p:nvPr/>
        </p:nvSpPr>
        <p:spPr>
          <a:xfrm>
            <a:off x="6962782" y="1873399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모기지심사1…</a:t>
            </a:r>
            <a:endParaRPr lang="en-US" sz="650" dirty="0"/>
          </a:p>
        </p:txBody>
      </p:sp>
      <p:sp>
        <p:nvSpPr>
          <p:cNvPr id="189" name="Text 187"/>
          <p:cNvSpPr/>
          <p:nvPr/>
        </p:nvSpPr>
        <p:spPr>
          <a:xfrm>
            <a:off x="7439907" y="1873399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190" name="Shape 188"/>
          <p:cNvSpPr/>
          <p:nvPr/>
        </p:nvSpPr>
        <p:spPr>
          <a:xfrm>
            <a:off x="6907918" y="2068323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91" name="Text 189"/>
          <p:cNvSpPr/>
          <p:nvPr/>
        </p:nvSpPr>
        <p:spPr>
          <a:xfrm>
            <a:off x="6962782" y="2015540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모기지심사2…</a:t>
            </a:r>
            <a:endParaRPr lang="en-US" sz="650" dirty="0"/>
          </a:p>
        </p:txBody>
      </p:sp>
      <p:sp>
        <p:nvSpPr>
          <p:cNvPr id="192" name="Text 190"/>
          <p:cNvSpPr/>
          <p:nvPr/>
        </p:nvSpPr>
        <p:spPr>
          <a:xfrm>
            <a:off x="7439907" y="2015540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193" name="Shape 191"/>
          <p:cNvSpPr/>
          <p:nvPr/>
        </p:nvSpPr>
        <p:spPr>
          <a:xfrm>
            <a:off x="7289405" y="2171398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6871342" y="2226262"/>
            <a:ext cx="836125" cy="51238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6871342" y="2226262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96" name="Text 194"/>
          <p:cNvSpPr/>
          <p:nvPr/>
        </p:nvSpPr>
        <p:spPr>
          <a:xfrm>
            <a:off x="6889630" y="2226262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심사1부</a:t>
            </a:r>
            <a:endParaRPr lang="en-US" sz="750" dirty="0"/>
          </a:p>
        </p:txBody>
      </p:sp>
      <p:sp>
        <p:nvSpPr>
          <p:cNvPr id="197" name="Text 195"/>
          <p:cNvSpPr/>
          <p:nvPr/>
        </p:nvSpPr>
        <p:spPr>
          <a:xfrm>
            <a:off x="7439907" y="2226262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10</a:t>
            </a:r>
            <a:endParaRPr lang="en-US" sz="650" dirty="0"/>
          </a:p>
        </p:txBody>
      </p:sp>
      <p:sp>
        <p:nvSpPr>
          <p:cNvPr id="198" name="Shape 196"/>
          <p:cNvSpPr/>
          <p:nvPr/>
        </p:nvSpPr>
        <p:spPr>
          <a:xfrm>
            <a:off x="6907918" y="249343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99" name="Text 197"/>
          <p:cNvSpPr/>
          <p:nvPr/>
        </p:nvSpPr>
        <p:spPr>
          <a:xfrm>
            <a:off x="6962782" y="2440647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여신심사1팀</a:t>
            </a:r>
            <a:endParaRPr lang="en-US" sz="650" dirty="0"/>
          </a:p>
        </p:txBody>
      </p:sp>
      <p:sp>
        <p:nvSpPr>
          <p:cNvPr id="200" name="Text 198"/>
          <p:cNvSpPr/>
          <p:nvPr/>
        </p:nvSpPr>
        <p:spPr>
          <a:xfrm>
            <a:off x="7439907" y="2440647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00" dirty="0"/>
          </a:p>
        </p:txBody>
      </p:sp>
      <p:sp>
        <p:nvSpPr>
          <p:cNvPr id="201" name="Shape 199"/>
          <p:cNvSpPr/>
          <p:nvPr/>
        </p:nvSpPr>
        <p:spPr>
          <a:xfrm>
            <a:off x="6907918" y="2635571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02" name="Text 200"/>
          <p:cNvSpPr/>
          <p:nvPr/>
        </p:nvSpPr>
        <p:spPr>
          <a:xfrm>
            <a:off x="6962782" y="2582789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여신심사2팀</a:t>
            </a:r>
            <a:endParaRPr lang="en-US" sz="650" dirty="0"/>
          </a:p>
        </p:txBody>
      </p:sp>
      <p:sp>
        <p:nvSpPr>
          <p:cNvPr id="203" name="Text 201"/>
          <p:cNvSpPr/>
          <p:nvPr/>
        </p:nvSpPr>
        <p:spPr>
          <a:xfrm>
            <a:off x="7439907" y="2582789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00" dirty="0"/>
          </a:p>
        </p:txBody>
      </p:sp>
      <p:sp>
        <p:nvSpPr>
          <p:cNvPr id="204" name="Shape 202"/>
          <p:cNvSpPr/>
          <p:nvPr/>
        </p:nvSpPr>
        <p:spPr>
          <a:xfrm>
            <a:off x="7289405" y="2738646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871342" y="2793510"/>
            <a:ext cx="836125" cy="51238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6871342" y="2793510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207" name="Text 205"/>
          <p:cNvSpPr/>
          <p:nvPr/>
        </p:nvSpPr>
        <p:spPr>
          <a:xfrm>
            <a:off x="6889630" y="2793510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심사2부</a:t>
            </a:r>
            <a:endParaRPr lang="en-US" sz="750" dirty="0"/>
          </a:p>
        </p:txBody>
      </p:sp>
      <p:sp>
        <p:nvSpPr>
          <p:cNvPr id="208" name="Text 206"/>
          <p:cNvSpPr/>
          <p:nvPr/>
        </p:nvSpPr>
        <p:spPr>
          <a:xfrm>
            <a:off x="7439907" y="2793510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8</a:t>
            </a:r>
            <a:endParaRPr lang="en-US" sz="650" dirty="0"/>
          </a:p>
        </p:txBody>
      </p:sp>
      <p:sp>
        <p:nvSpPr>
          <p:cNvPr id="209" name="Shape 207"/>
          <p:cNvSpPr/>
          <p:nvPr/>
        </p:nvSpPr>
        <p:spPr>
          <a:xfrm>
            <a:off x="6907918" y="306067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10" name="Text 208"/>
          <p:cNvSpPr/>
          <p:nvPr/>
        </p:nvSpPr>
        <p:spPr>
          <a:xfrm>
            <a:off x="6962782" y="3007896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심사기획팀</a:t>
            </a:r>
            <a:endParaRPr lang="en-US" sz="650" dirty="0"/>
          </a:p>
        </p:txBody>
      </p:sp>
      <p:sp>
        <p:nvSpPr>
          <p:cNvPr id="211" name="Text 209"/>
          <p:cNvSpPr/>
          <p:nvPr/>
        </p:nvSpPr>
        <p:spPr>
          <a:xfrm>
            <a:off x="7439907" y="3007896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212" name="Shape 210"/>
          <p:cNvSpPr/>
          <p:nvPr/>
        </p:nvSpPr>
        <p:spPr>
          <a:xfrm>
            <a:off x="6907918" y="3202819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13" name="Text 211"/>
          <p:cNvSpPr/>
          <p:nvPr/>
        </p:nvSpPr>
        <p:spPr>
          <a:xfrm>
            <a:off x="6962782" y="3150037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여신심사3팀</a:t>
            </a:r>
            <a:endParaRPr lang="en-US" sz="650" dirty="0"/>
          </a:p>
        </p:txBody>
      </p:sp>
      <p:sp>
        <p:nvSpPr>
          <p:cNvPr id="214" name="Text 212"/>
          <p:cNvSpPr/>
          <p:nvPr/>
        </p:nvSpPr>
        <p:spPr>
          <a:xfrm>
            <a:off x="7439907" y="3150037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00" dirty="0"/>
          </a:p>
        </p:txBody>
      </p:sp>
      <p:sp>
        <p:nvSpPr>
          <p:cNvPr id="215" name="Shape 213"/>
          <p:cNvSpPr/>
          <p:nvPr/>
        </p:nvSpPr>
        <p:spPr>
          <a:xfrm>
            <a:off x="8376367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7916498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217" name="Text 215"/>
          <p:cNvSpPr/>
          <p:nvPr/>
        </p:nvSpPr>
        <p:spPr>
          <a:xfrm>
            <a:off x="7916498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AX영업본부</a:t>
            </a:r>
            <a:endParaRPr lang="en-US" sz="900" dirty="0"/>
          </a:p>
        </p:txBody>
      </p:sp>
      <p:sp>
        <p:nvSpPr>
          <p:cNvPr id="218" name="Text 216"/>
          <p:cNvSpPr/>
          <p:nvPr/>
        </p:nvSpPr>
        <p:spPr>
          <a:xfrm>
            <a:off x="8578709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196</a:t>
            </a:r>
            <a:endParaRPr lang="en-US" sz="700" dirty="0"/>
          </a:p>
        </p:txBody>
      </p:sp>
      <p:sp>
        <p:nvSpPr>
          <p:cNvPr id="219" name="Shape 217"/>
          <p:cNvSpPr/>
          <p:nvPr/>
        </p:nvSpPr>
        <p:spPr>
          <a:xfrm>
            <a:off x="8376367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7958304" y="1659013"/>
            <a:ext cx="836125" cy="200670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7958304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222" name="Text 220"/>
          <p:cNvSpPr/>
          <p:nvPr/>
        </p:nvSpPr>
        <p:spPr>
          <a:xfrm>
            <a:off x="7976592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기업금융1본…</a:t>
            </a:r>
            <a:endParaRPr lang="en-US" sz="750" dirty="0"/>
          </a:p>
        </p:txBody>
      </p:sp>
      <p:sp>
        <p:nvSpPr>
          <p:cNvPr id="223" name="Text 221"/>
          <p:cNvSpPr/>
          <p:nvPr/>
        </p:nvSpPr>
        <p:spPr>
          <a:xfrm>
            <a:off x="8526869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31</a:t>
            </a:r>
            <a:endParaRPr lang="en-US" sz="650" dirty="0"/>
          </a:p>
        </p:txBody>
      </p:sp>
      <p:sp>
        <p:nvSpPr>
          <p:cNvPr id="224" name="Shape 222"/>
          <p:cNvSpPr/>
          <p:nvPr/>
        </p:nvSpPr>
        <p:spPr>
          <a:xfrm>
            <a:off x="8376367" y="1859683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7958304" y="1914547"/>
            <a:ext cx="836125" cy="200670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7958304" y="1914547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227" name="Text 225"/>
          <p:cNvSpPr/>
          <p:nvPr/>
        </p:nvSpPr>
        <p:spPr>
          <a:xfrm>
            <a:off x="7976592" y="1914547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기업금융2본…</a:t>
            </a:r>
            <a:endParaRPr lang="en-US" sz="750" dirty="0"/>
          </a:p>
        </p:txBody>
      </p:sp>
      <p:sp>
        <p:nvSpPr>
          <p:cNvPr id="228" name="Text 226"/>
          <p:cNvSpPr/>
          <p:nvPr/>
        </p:nvSpPr>
        <p:spPr>
          <a:xfrm>
            <a:off x="8526869" y="1914547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29</a:t>
            </a:r>
            <a:endParaRPr lang="en-US" sz="650" dirty="0"/>
          </a:p>
        </p:txBody>
      </p:sp>
      <p:sp>
        <p:nvSpPr>
          <p:cNvPr id="229" name="Shape 227"/>
          <p:cNvSpPr/>
          <p:nvPr/>
        </p:nvSpPr>
        <p:spPr>
          <a:xfrm>
            <a:off x="8376367" y="2115217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230" name="Shape 228"/>
          <p:cNvSpPr/>
          <p:nvPr/>
        </p:nvSpPr>
        <p:spPr>
          <a:xfrm>
            <a:off x="7958304" y="2170081"/>
            <a:ext cx="836125" cy="51238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7958304" y="2170081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232" name="Text 230"/>
          <p:cNvSpPr/>
          <p:nvPr/>
        </p:nvSpPr>
        <p:spPr>
          <a:xfrm>
            <a:off x="7976592" y="2170081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기업여신관리…</a:t>
            </a:r>
            <a:endParaRPr lang="en-US" sz="750" dirty="0"/>
          </a:p>
        </p:txBody>
      </p:sp>
      <p:sp>
        <p:nvSpPr>
          <p:cNvPr id="233" name="Text 231"/>
          <p:cNvSpPr/>
          <p:nvPr/>
        </p:nvSpPr>
        <p:spPr>
          <a:xfrm>
            <a:off x="8526869" y="2170081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13</a:t>
            </a:r>
            <a:endParaRPr lang="en-US" sz="650" dirty="0"/>
          </a:p>
        </p:txBody>
      </p:sp>
      <p:sp>
        <p:nvSpPr>
          <p:cNvPr id="234" name="Shape 232"/>
          <p:cNvSpPr/>
          <p:nvPr/>
        </p:nvSpPr>
        <p:spPr>
          <a:xfrm>
            <a:off x="7994880" y="243725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35" name="Text 233"/>
          <p:cNvSpPr/>
          <p:nvPr/>
        </p:nvSpPr>
        <p:spPr>
          <a:xfrm>
            <a:off x="8049744" y="2384467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기업여신관리…</a:t>
            </a:r>
            <a:endParaRPr lang="en-US" sz="650" dirty="0"/>
          </a:p>
        </p:txBody>
      </p:sp>
      <p:sp>
        <p:nvSpPr>
          <p:cNvPr id="236" name="Text 234"/>
          <p:cNvSpPr/>
          <p:nvPr/>
        </p:nvSpPr>
        <p:spPr>
          <a:xfrm>
            <a:off x="8526869" y="2384467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00" dirty="0"/>
          </a:p>
        </p:txBody>
      </p:sp>
      <p:sp>
        <p:nvSpPr>
          <p:cNvPr id="237" name="Shape 235"/>
          <p:cNvSpPr/>
          <p:nvPr/>
        </p:nvSpPr>
        <p:spPr>
          <a:xfrm>
            <a:off x="7994880" y="2579391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38" name="Text 236"/>
          <p:cNvSpPr/>
          <p:nvPr/>
        </p:nvSpPr>
        <p:spPr>
          <a:xfrm>
            <a:off x="8049744" y="2526608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여신사후관리…</a:t>
            </a:r>
            <a:endParaRPr lang="en-US" sz="650" dirty="0"/>
          </a:p>
        </p:txBody>
      </p:sp>
      <p:sp>
        <p:nvSpPr>
          <p:cNvPr id="239" name="Text 237"/>
          <p:cNvSpPr/>
          <p:nvPr/>
        </p:nvSpPr>
        <p:spPr>
          <a:xfrm>
            <a:off x="8526869" y="2526608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00" dirty="0"/>
          </a:p>
        </p:txBody>
      </p:sp>
      <p:sp>
        <p:nvSpPr>
          <p:cNvPr id="240" name="Text 238"/>
          <p:cNvSpPr/>
          <p:nvPr/>
        </p:nvSpPr>
        <p:spPr>
          <a:xfrm>
            <a:off x="7958304" y="2737329"/>
            <a:ext cx="836125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외 1개 부</a:t>
            </a:r>
            <a:endParaRPr lang="en-US" sz="700" dirty="0"/>
          </a:p>
        </p:txBody>
      </p:sp>
      <p:sp>
        <p:nvSpPr>
          <p:cNvPr id="241" name="Shape 239"/>
          <p:cNvSpPr/>
          <p:nvPr/>
        </p:nvSpPr>
        <p:spPr>
          <a:xfrm>
            <a:off x="457200" y="6592824"/>
            <a:ext cx="91440" cy="91440"/>
          </a:xfrm>
          <a:prstGeom prst="ellipse">
            <a:avLst/>
          </a:prstGeom>
          <a:solidFill>
            <a:srgbClr val="5BA0D9"/>
          </a:solidFill>
          <a:ln/>
        </p:spPr>
      </p:sp>
      <p:sp>
        <p:nvSpPr>
          <p:cNvPr id="242" name="Text 240"/>
          <p:cNvSpPr/>
          <p:nvPr/>
        </p:nvSpPr>
        <p:spPr>
          <a:xfrm>
            <a:off x="58521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본부</a:t>
            </a:r>
            <a:endParaRPr lang="en-US" sz="700" dirty="0"/>
          </a:p>
        </p:txBody>
      </p:sp>
      <p:sp>
        <p:nvSpPr>
          <p:cNvPr id="243" name="Shape 241"/>
          <p:cNvSpPr/>
          <p:nvPr/>
        </p:nvSpPr>
        <p:spPr>
          <a:xfrm>
            <a:off x="1645920" y="6592824"/>
            <a:ext cx="91440" cy="91440"/>
          </a:xfrm>
          <a:prstGeom prst="ellipse">
            <a:avLst/>
          </a:prstGeom>
          <a:solidFill>
            <a:srgbClr val="FCAF17"/>
          </a:solidFill>
          <a:ln/>
        </p:spPr>
      </p:sp>
      <p:sp>
        <p:nvSpPr>
          <p:cNvPr id="244" name="Text 242"/>
          <p:cNvSpPr/>
          <p:nvPr/>
        </p:nvSpPr>
        <p:spPr>
          <a:xfrm>
            <a:off x="177393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부</a:t>
            </a:r>
            <a:endParaRPr lang="en-US" sz="700" dirty="0"/>
          </a:p>
        </p:txBody>
      </p:sp>
      <p:sp>
        <p:nvSpPr>
          <p:cNvPr id="245" name="Shape 243"/>
          <p:cNvSpPr/>
          <p:nvPr/>
        </p:nvSpPr>
        <p:spPr>
          <a:xfrm>
            <a:off x="2834640" y="6592824"/>
            <a:ext cx="91440" cy="91440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46" name="Text 244"/>
          <p:cNvSpPr/>
          <p:nvPr/>
        </p:nvSpPr>
        <p:spPr>
          <a:xfrm>
            <a:off x="296265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센터/파트</a:t>
            </a:r>
            <a:endParaRPr lang="en-US" sz="700" dirty="0"/>
          </a:p>
        </p:txBody>
      </p:sp>
      <p:sp>
        <p:nvSpPr>
          <p:cNvPr id="247" name="Text 245"/>
          <p:cNvSpPr/>
          <p:nvPr/>
        </p:nvSpPr>
        <p:spPr>
          <a:xfrm>
            <a:off x="6400800" y="65379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OK금융그룹 인사부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5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474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OK저축은행 조직도 — 2/2 (IB금융본부, 모기지사업본, AX경영지원, AX정보보안, 감사부, 금융소비자보, 리스크관리부, 준법지원부…)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E8572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954명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6" name="Shape 4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solidFill>
            <a:srgbClr val="E8572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OK저축은행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932688"/>
            <a:ext cx="0" cy="13716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7633" y="1069848"/>
            <a:ext cx="7608733" cy="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7633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765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2" name="Text 10"/>
          <p:cNvSpPr/>
          <p:nvPr/>
        </p:nvSpPr>
        <p:spPr>
          <a:xfrm>
            <a:off x="307765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IB금융본부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969976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15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767633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9571" y="1659013"/>
            <a:ext cx="836125" cy="654525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9571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7" name="Text 15"/>
          <p:cNvSpPr/>
          <p:nvPr/>
        </p:nvSpPr>
        <p:spPr>
          <a:xfrm>
            <a:off x="367859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IB금융1부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918136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11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386147" y="192618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0" name="Text 18"/>
          <p:cNvSpPr/>
          <p:nvPr/>
        </p:nvSpPr>
        <p:spPr>
          <a:xfrm>
            <a:off x="441011" y="1873399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IB금융1팀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8136" y="1873399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00" dirty="0"/>
          </a:p>
        </p:txBody>
      </p:sp>
      <p:sp>
        <p:nvSpPr>
          <p:cNvPr id="22" name="Shape 20"/>
          <p:cNvSpPr/>
          <p:nvPr/>
        </p:nvSpPr>
        <p:spPr>
          <a:xfrm>
            <a:off x="386147" y="2068323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3" name="Text 21"/>
          <p:cNvSpPr/>
          <p:nvPr/>
        </p:nvSpPr>
        <p:spPr>
          <a:xfrm>
            <a:off x="441011" y="2015540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IB금융2팀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918136" y="2015540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386147" y="221046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6" name="Text 24"/>
          <p:cNvSpPr/>
          <p:nvPr/>
        </p:nvSpPr>
        <p:spPr>
          <a:xfrm>
            <a:off x="441011" y="2157682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IB금융3팀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918136" y="2157682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1854595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94727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30" name="Text 28"/>
          <p:cNvSpPr/>
          <p:nvPr/>
        </p:nvSpPr>
        <p:spPr>
          <a:xfrm>
            <a:off x="1394727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모기지사업본부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2056937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59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1854595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436533" y="1659013"/>
            <a:ext cx="836125" cy="93880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436533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35" name="Text 33"/>
          <p:cNvSpPr/>
          <p:nvPr/>
        </p:nvSpPr>
        <p:spPr>
          <a:xfrm>
            <a:off x="1454821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모기지사업부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2005098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58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1473109" y="192618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38" name="Text 36"/>
          <p:cNvSpPr/>
          <p:nvPr/>
        </p:nvSpPr>
        <p:spPr>
          <a:xfrm>
            <a:off x="1527973" y="1873399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담보지원팀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2005098" y="1873399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00" dirty="0"/>
          </a:p>
        </p:txBody>
      </p:sp>
      <p:sp>
        <p:nvSpPr>
          <p:cNvPr id="40" name="Shape 38"/>
          <p:cNvSpPr/>
          <p:nvPr/>
        </p:nvSpPr>
        <p:spPr>
          <a:xfrm>
            <a:off x="1473109" y="2068323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41" name="Text 39"/>
          <p:cNvSpPr/>
          <p:nvPr/>
        </p:nvSpPr>
        <p:spPr>
          <a:xfrm>
            <a:off x="1527973" y="2015540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모기지관리팀</a:t>
            </a:r>
            <a:endParaRPr lang="en-US" sz="650" dirty="0"/>
          </a:p>
        </p:txBody>
      </p:sp>
      <p:sp>
        <p:nvSpPr>
          <p:cNvPr id="42" name="Text 40"/>
          <p:cNvSpPr/>
          <p:nvPr/>
        </p:nvSpPr>
        <p:spPr>
          <a:xfrm>
            <a:off x="2005098" y="2015540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11</a:t>
            </a:r>
            <a:endParaRPr lang="en-US" sz="600" dirty="0"/>
          </a:p>
        </p:txBody>
      </p:sp>
      <p:sp>
        <p:nvSpPr>
          <p:cNvPr id="43" name="Shape 41"/>
          <p:cNvSpPr/>
          <p:nvPr/>
        </p:nvSpPr>
        <p:spPr>
          <a:xfrm>
            <a:off x="1473109" y="221046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44" name="Text 42"/>
          <p:cNvSpPr/>
          <p:nvPr/>
        </p:nvSpPr>
        <p:spPr>
          <a:xfrm>
            <a:off x="1527973" y="2157682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모기지기획팀</a:t>
            </a:r>
            <a:endParaRPr lang="en-US" sz="650" dirty="0"/>
          </a:p>
        </p:txBody>
      </p:sp>
      <p:sp>
        <p:nvSpPr>
          <p:cNvPr id="45" name="Text 43"/>
          <p:cNvSpPr/>
          <p:nvPr/>
        </p:nvSpPr>
        <p:spPr>
          <a:xfrm>
            <a:off x="2005098" y="2157682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00" dirty="0"/>
          </a:p>
        </p:txBody>
      </p:sp>
      <p:sp>
        <p:nvSpPr>
          <p:cNvPr id="46" name="Shape 44"/>
          <p:cNvSpPr/>
          <p:nvPr/>
        </p:nvSpPr>
        <p:spPr>
          <a:xfrm>
            <a:off x="1473109" y="2352605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47" name="Text 45"/>
          <p:cNvSpPr/>
          <p:nvPr/>
        </p:nvSpPr>
        <p:spPr>
          <a:xfrm>
            <a:off x="1527973" y="2299823"/>
            <a:ext cx="459868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모기지업무지…</a:t>
            </a:r>
            <a:endParaRPr lang="en-US" sz="650" dirty="0"/>
          </a:p>
        </p:txBody>
      </p:sp>
      <p:sp>
        <p:nvSpPr>
          <p:cNvPr id="48" name="Text 46"/>
          <p:cNvSpPr/>
          <p:nvPr/>
        </p:nvSpPr>
        <p:spPr>
          <a:xfrm>
            <a:off x="2005098" y="2299823"/>
            <a:ext cx="23411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13</a:t>
            </a:r>
            <a:endParaRPr lang="en-US" sz="600" dirty="0"/>
          </a:p>
        </p:txBody>
      </p:sp>
      <p:sp>
        <p:nvSpPr>
          <p:cNvPr id="49" name="Text 47"/>
          <p:cNvSpPr/>
          <p:nvPr/>
        </p:nvSpPr>
        <p:spPr>
          <a:xfrm>
            <a:off x="1436533" y="2441964"/>
            <a:ext cx="836125" cy="1421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외 2개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2941557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481689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52" name="Text 50"/>
          <p:cNvSpPr/>
          <p:nvPr/>
        </p:nvSpPr>
        <p:spPr>
          <a:xfrm>
            <a:off x="2481689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AX경영지원부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3143899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2941557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523495" y="1659013"/>
            <a:ext cx="836125" cy="200670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523495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57" name="Text 55"/>
          <p:cNvSpPr/>
          <p:nvPr/>
        </p:nvSpPr>
        <p:spPr>
          <a:xfrm>
            <a:off x="2541783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휴직자소속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3092060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4028519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568651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61" name="Text 59"/>
          <p:cNvSpPr/>
          <p:nvPr/>
        </p:nvSpPr>
        <p:spPr>
          <a:xfrm>
            <a:off x="3568651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AX정보보안부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230861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4028519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610457" y="1659013"/>
            <a:ext cx="836125" cy="200670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610457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66" name="Text 64"/>
          <p:cNvSpPr/>
          <p:nvPr/>
        </p:nvSpPr>
        <p:spPr>
          <a:xfrm>
            <a:off x="3628745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정보보안팀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4179021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5115481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655612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70" name="Text 68"/>
          <p:cNvSpPr/>
          <p:nvPr/>
        </p:nvSpPr>
        <p:spPr>
          <a:xfrm>
            <a:off x="4655612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감사부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5317823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11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115481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697419" y="1659013"/>
            <a:ext cx="836125" cy="200670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4697419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75" name="Text 73"/>
          <p:cNvSpPr/>
          <p:nvPr/>
        </p:nvSpPr>
        <p:spPr>
          <a:xfrm>
            <a:off x="4715707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감사팀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5265983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50" dirty="0"/>
          </a:p>
        </p:txBody>
      </p:sp>
      <p:sp>
        <p:nvSpPr>
          <p:cNvPr id="77" name="Shape 75"/>
          <p:cNvSpPr/>
          <p:nvPr/>
        </p:nvSpPr>
        <p:spPr>
          <a:xfrm>
            <a:off x="5115481" y="1859683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697419" y="1914547"/>
            <a:ext cx="836125" cy="200670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697419" y="1914547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80" name="Text 78"/>
          <p:cNvSpPr/>
          <p:nvPr/>
        </p:nvSpPr>
        <p:spPr>
          <a:xfrm>
            <a:off x="4715707" y="1914547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검사팀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5265983" y="1914547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50" dirty="0"/>
          </a:p>
        </p:txBody>
      </p:sp>
      <p:sp>
        <p:nvSpPr>
          <p:cNvPr id="82" name="Shape 80"/>
          <p:cNvSpPr/>
          <p:nvPr/>
        </p:nvSpPr>
        <p:spPr>
          <a:xfrm>
            <a:off x="6202443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742574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84" name="Text 82"/>
          <p:cNvSpPr/>
          <p:nvPr/>
        </p:nvSpPr>
        <p:spPr>
          <a:xfrm>
            <a:off x="5742574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금융소비자보호…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6404785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9</a:t>
            </a:r>
            <a:endParaRPr lang="en-US" sz="700" dirty="0"/>
          </a:p>
        </p:txBody>
      </p:sp>
      <p:sp>
        <p:nvSpPr>
          <p:cNvPr id="86" name="Shape 84"/>
          <p:cNvSpPr/>
          <p:nvPr/>
        </p:nvSpPr>
        <p:spPr>
          <a:xfrm>
            <a:off x="6202443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5784381" y="1659013"/>
            <a:ext cx="836125" cy="200670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84381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89" name="Text 87"/>
          <p:cNvSpPr/>
          <p:nvPr/>
        </p:nvSpPr>
        <p:spPr>
          <a:xfrm>
            <a:off x="5802669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금융소비자보…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6352945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8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7289405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6829536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93" name="Text 91"/>
          <p:cNvSpPr/>
          <p:nvPr/>
        </p:nvSpPr>
        <p:spPr>
          <a:xfrm>
            <a:off x="6829536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리스크관리부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7491747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15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7289405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871342" y="1659013"/>
            <a:ext cx="836125" cy="200670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71342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98" name="Text 96"/>
          <p:cNvSpPr/>
          <p:nvPr/>
        </p:nvSpPr>
        <p:spPr>
          <a:xfrm>
            <a:off x="6889630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리스크관리팀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7439907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100" name="Shape 98"/>
          <p:cNvSpPr/>
          <p:nvPr/>
        </p:nvSpPr>
        <p:spPr>
          <a:xfrm>
            <a:off x="7289405" y="1859683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871342" y="1914547"/>
            <a:ext cx="836125" cy="200670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871342" y="1914547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03" name="Text 101"/>
          <p:cNvSpPr/>
          <p:nvPr/>
        </p:nvSpPr>
        <p:spPr>
          <a:xfrm>
            <a:off x="6889630" y="1914547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여신감리팀</a:t>
            </a:r>
            <a:endParaRPr lang="en-US" sz="750" dirty="0"/>
          </a:p>
        </p:txBody>
      </p:sp>
      <p:sp>
        <p:nvSpPr>
          <p:cNvPr id="104" name="Text 102"/>
          <p:cNvSpPr/>
          <p:nvPr/>
        </p:nvSpPr>
        <p:spPr>
          <a:xfrm>
            <a:off x="7439907" y="1914547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105" name="Shape 103"/>
          <p:cNvSpPr/>
          <p:nvPr/>
        </p:nvSpPr>
        <p:spPr>
          <a:xfrm>
            <a:off x="8376367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916498" y="1207008"/>
            <a:ext cx="919737" cy="250837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07" name="Text 105"/>
          <p:cNvSpPr/>
          <p:nvPr/>
        </p:nvSpPr>
        <p:spPr>
          <a:xfrm>
            <a:off x="7916498" y="1207008"/>
            <a:ext cx="689803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준법지원부</a:t>
            </a:r>
            <a:endParaRPr lang="en-US" sz="900" dirty="0"/>
          </a:p>
        </p:txBody>
      </p:sp>
      <p:sp>
        <p:nvSpPr>
          <p:cNvPr id="108" name="Text 106"/>
          <p:cNvSpPr/>
          <p:nvPr/>
        </p:nvSpPr>
        <p:spPr>
          <a:xfrm>
            <a:off x="8578709" y="1207008"/>
            <a:ext cx="239132" cy="2508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14</a:t>
            </a:r>
            <a:endParaRPr lang="en-US" sz="700" dirty="0"/>
          </a:p>
        </p:txBody>
      </p:sp>
      <p:sp>
        <p:nvSpPr>
          <p:cNvPr id="109" name="Shape 107"/>
          <p:cNvSpPr/>
          <p:nvPr/>
        </p:nvSpPr>
        <p:spPr>
          <a:xfrm>
            <a:off x="8376367" y="1457845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958304" y="1659013"/>
            <a:ext cx="836125" cy="200670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958304" y="1659013"/>
            <a:ext cx="836125" cy="200670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12" name="Text 110"/>
          <p:cNvSpPr/>
          <p:nvPr/>
        </p:nvSpPr>
        <p:spPr>
          <a:xfrm>
            <a:off x="7976592" y="1659013"/>
            <a:ext cx="568565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준법지원팀</a:t>
            </a:r>
            <a:endParaRPr lang="en-US" sz="750" dirty="0"/>
          </a:p>
        </p:txBody>
      </p:sp>
      <p:sp>
        <p:nvSpPr>
          <p:cNvPr id="113" name="Text 111"/>
          <p:cNvSpPr/>
          <p:nvPr/>
        </p:nvSpPr>
        <p:spPr>
          <a:xfrm>
            <a:off x="8526869" y="1659013"/>
            <a:ext cx="250837" cy="20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13</a:t>
            </a:r>
            <a:endParaRPr lang="en-US" sz="650" dirty="0"/>
          </a:p>
        </p:txBody>
      </p:sp>
      <p:sp>
        <p:nvSpPr>
          <p:cNvPr id="114" name="Shape 112"/>
          <p:cNvSpPr/>
          <p:nvPr/>
        </p:nvSpPr>
        <p:spPr>
          <a:xfrm>
            <a:off x="457200" y="6592824"/>
            <a:ext cx="91440" cy="91440"/>
          </a:xfrm>
          <a:prstGeom prst="ellipse">
            <a:avLst/>
          </a:prstGeom>
          <a:solidFill>
            <a:srgbClr val="5BA0D9"/>
          </a:solidFill>
          <a:ln/>
        </p:spPr>
      </p:sp>
      <p:sp>
        <p:nvSpPr>
          <p:cNvPr id="115" name="Text 113"/>
          <p:cNvSpPr/>
          <p:nvPr/>
        </p:nvSpPr>
        <p:spPr>
          <a:xfrm>
            <a:off x="58521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본부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>
            <a:off x="1645920" y="6592824"/>
            <a:ext cx="91440" cy="91440"/>
          </a:xfrm>
          <a:prstGeom prst="ellipse">
            <a:avLst/>
          </a:prstGeom>
          <a:solidFill>
            <a:srgbClr val="FCAF17"/>
          </a:solidFill>
          <a:ln/>
        </p:spPr>
      </p:sp>
      <p:sp>
        <p:nvSpPr>
          <p:cNvPr id="117" name="Text 115"/>
          <p:cNvSpPr/>
          <p:nvPr/>
        </p:nvSpPr>
        <p:spPr>
          <a:xfrm>
            <a:off x="177393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부</a:t>
            </a:r>
            <a:endParaRPr lang="en-US" sz="700" dirty="0"/>
          </a:p>
        </p:txBody>
      </p:sp>
      <p:sp>
        <p:nvSpPr>
          <p:cNvPr id="118" name="Shape 116"/>
          <p:cNvSpPr/>
          <p:nvPr/>
        </p:nvSpPr>
        <p:spPr>
          <a:xfrm>
            <a:off x="2834640" y="6592824"/>
            <a:ext cx="91440" cy="91440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19" name="Text 117"/>
          <p:cNvSpPr/>
          <p:nvPr/>
        </p:nvSpPr>
        <p:spPr>
          <a:xfrm>
            <a:off x="296265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센터/파트</a:t>
            </a:r>
            <a:endParaRPr lang="en-US" sz="700" dirty="0"/>
          </a:p>
        </p:txBody>
      </p:sp>
      <p:sp>
        <p:nvSpPr>
          <p:cNvPr id="120" name="Text 118"/>
          <p:cNvSpPr/>
          <p:nvPr/>
        </p:nvSpPr>
        <p:spPr>
          <a:xfrm>
            <a:off x="6400800" y="65379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OK금융그룹 인사부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5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474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OK캐피탈 조직도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BA0D9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215명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6" name="Shape 4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solidFill>
            <a:srgbClr val="5BA0D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OK캐피탈  215명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932688"/>
            <a:ext cx="0" cy="13716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67712" y="1069848"/>
            <a:ext cx="4608576" cy="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67712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27632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2" name="Text 10"/>
          <p:cNvSpPr/>
          <p:nvPr/>
        </p:nvSpPr>
        <p:spPr>
          <a:xfrm>
            <a:off x="1627632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AX경영관리본부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49347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34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267712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96212" y="1719072"/>
            <a:ext cx="1143000" cy="1133856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96212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7" name="Text 15"/>
          <p:cNvSpPr/>
          <p:nvPr/>
        </p:nvSpPr>
        <p:spPr>
          <a:xfrm>
            <a:off x="1714500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경영관리부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73452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28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1732788" y="20391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0" name="Text 18"/>
          <p:cNvSpPr/>
          <p:nvPr/>
        </p:nvSpPr>
        <p:spPr>
          <a:xfrm>
            <a:off x="1787652" y="197053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경영관리팀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2473452" y="197053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</a:t>
            </a:r>
            <a:endParaRPr lang="en-US" sz="600" dirty="0"/>
          </a:p>
        </p:txBody>
      </p:sp>
      <p:sp>
        <p:nvSpPr>
          <p:cNvPr id="22" name="Shape 20"/>
          <p:cNvSpPr/>
          <p:nvPr/>
        </p:nvSpPr>
        <p:spPr>
          <a:xfrm>
            <a:off x="1732788" y="221284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3" name="Text 21"/>
          <p:cNvSpPr/>
          <p:nvPr/>
        </p:nvSpPr>
        <p:spPr>
          <a:xfrm>
            <a:off x="1787652" y="2144268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경영기획팀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2473452" y="2144268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1732788" y="238658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6" name="Text 24"/>
          <p:cNvSpPr/>
          <p:nvPr/>
        </p:nvSpPr>
        <p:spPr>
          <a:xfrm>
            <a:off x="1787652" y="2318004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전산팀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2473452" y="2318004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1732788" y="256032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9" name="Text 27"/>
          <p:cNvSpPr/>
          <p:nvPr/>
        </p:nvSpPr>
        <p:spPr>
          <a:xfrm>
            <a:off x="1787652" y="2491740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회계팀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2473452" y="2491740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00" dirty="0"/>
          </a:p>
        </p:txBody>
      </p:sp>
      <p:sp>
        <p:nvSpPr>
          <p:cNvPr id="31" name="Shape 29"/>
          <p:cNvSpPr/>
          <p:nvPr/>
        </p:nvSpPr>
        <p:spPr>
          <a:xfrm>
            <a:off x="1732788" y="273405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32" name="Text 30"/>
          <p:cNvSpPr/>
          <p:nvPr/>
        </p:nvSpPr>
        <p:spPr>
          <a:xfrm>
            <a:off x="1787652" y="2665476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휴직자소속</a:t>
            </a:r>
            <a:endParaRPr lang="en-US" sz="650" dirty="0"/>
          </a:p>
        </p:txBody>
      </p:sp>
      <p:sp>
        <p:nvSpPr>
          <p:cNvPr id="33" name="Text 31"/>
          <p:cNvSpPr/>
          <p:nvPr/>
        </p:nvSpPr>
        <p:spPr>
          <a:xfrm>
            <a:off x="2473452" y="2665476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9</a:t>
            </a:r>
            <a:endParaRPr lang="en-US" sz="600" dirty="0"/>
          </a:p>
        </p:txBody>
      </p:sp>
      <p:sp>
        <p:nvSpPr>
          <p:cNvPr id="34" name="Shape 32"/>
          <p:cNvSpPr/>
          <p:nvPr/>
        </p:nvSpPr>
        <p:spPr>
          <a:xfrm>
            <a:off x="2267712" y="2852928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696212" y="2907792"/>
            <a:ext cx="1143000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696212" y="290779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37" name="Text 35"/>
          <p:cNvSpPr/>
          <p:nvPr/>
        </p:nvSpPr>
        <p:spPr>
          <a:xfrm>
            <a:off x="1714500" y="290779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자금부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2473452" y="290779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732788" y="322783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40" name="Text 38"/>
          <p:cNvSpPr/>
          <p:nvPr/>
        </p:nvSpPr>
        <p:spPr>
          <a:xfrm>
            <a:off x="1787652" y="315925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자금운용팀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2473452" y="315925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42" name="Shape 40"/>
          <p:cNvSpPr/>
          <p:nvPr/>
        </p:nvSpPr>
        <p:spPr>
          <a:xfrm>
            <a:off x="1732788" y="340156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43" name="Text 41"/>
          <p:cNvSpPr/>
          <p:nvPr/>
        </p:nvSpPr>
        <p:spPr>
          <a:xfrm>
            <a:off x="1787652" y="3332988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자금팀</a:t>
            </a:r>
            <a:endParaRPr lang="en-US" sz="650" dirty="0"/>
          </a:p>
        </p:txBody>
      </p:sp>
      <p:sp>
        <p:nvSpPr>
          <p:cNvPr id="44" name="Text 42"/>
          <p:cNvSpPr/>
          <p:nvPr/>
        </p:nvSpPr>
        <p:spPr>
          <a:xfrm>
            <a:off x="2473452" y="3332988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1732788" y="357530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46" name="Text 44"/>
          <p:cNvSpPr/>
          <p:nvPr/>
        </p:nvSpPr>
        <p:spPr>
          <a:xfrm>
            <a:off x="1787652" y="3506724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자산관리팀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2473452" y="3506724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600" dirty="0"/>
          </a:p>
        </p:txBody>
      </p:sp>
      <p:sp>
        <p:nvSpPr>
          <p:cNvPr id="48" name="Shape 46"/>
          <p:cNvSpPr/>
          <p:nvPr/>
        </p:nvSpPr>
        <p:spPr>
          <a:xfrm>
            <a:off x="3803904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163824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50" name="Text 48"/>
          <p:cNvSpPr/>
          <p:nvPr/>
        </p:nvSpPr>
        <p:spPr>
          <a:xfrm>
            <a:off x="3163824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AX리스크관리본부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4085539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13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3803904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32404" y="1719072"/>
            <a:ext cx="1143000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232404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55" name="Text 53"/>
          <p:cNvSpPr/>
          <p:nvPr/>
        </p:nvSpPr>
        <p:spPr>
          <a:xfrm>
            <a:off x="3250692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리스크관리부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4009644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3268980" y="20391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58" name="Text 56"/>
          <p:cNvSpPr/>
          <p:nvPr/>
        </p:nvSpPr>
        <p:spPr>
          <a:xfrm>
            <a:off x="3323844" y="197053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리스크관리팀</a:t>
            </a:r>
            <a:endParaRPr lang="en-US" sz="650" dirty="0"/>
          </a:p>
        </p:txBody>
      </p:sp>
      <p:sp>
        <p:nvSpPr>
          <p:cNvPr id="59" name="Text 57"/>
          <p:cNvSpPr/>
          <p:nvPr/>
        </p:nvSpPr>
        <p:spPr>
          <a:xfrm>
            <a:off x="4009644" y="197053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3268980" y="221284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61" name="Text 59"/>
          <p:cNvSpPr/>
          <p:nvPr/>
        </p:nvSpPr>
        <p:spPr>
          <a:xfrm>
            <a:off x="3323844" y="2144268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여신감리팀</a:t>
            </a:r>
            <a:endParaRPr lang="en-US" sz="650" dirty="0"/>
          </a:p>
        </p:txBody>
      </p:sp>
      <p:sp>
        <p:nvSpPr>
          <p:cNvPr id="62" name="Text 60"/>
          <p:cNvSpPr/>
          <p:nvPr/>
        </p:nvSpPr>
        <p:spPr>
          <a:xfrm>
            <a:off x="4009644" y="2144268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63" name="Shape 61"/>
          <p:cNvSpPr/>
          <p:nvPr/>
        </p:nvSpPr>
        <p:spPr>
          <a:xfrm>
            <a:off x="3803904" y="2331720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232404" y="2386584"/>
            <a:ext cx="11430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232404" y="2386584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66" name="Text 64"/>
          <p:cNvSpPr/>
          <p:nvPr/>
        </p:nvSpPr>
        <p:spPr>
          <a:xfrm>
            <a:off x="3250692" y="23865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심사부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4009644" y="2386584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3268980" y="270662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69" name="Text 67"/>
          <p:cNvSpPr/>
          <p:nvPr/>
        </p:nvSpPr>
        <p:spPr>
          <a:xfrm>
            <a:off x="3323844" y="2638044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심사팀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4009644" y="2638044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00" dirty="0"/>
          </a:p>
        </p:txBody>
      </p:sp>
      <p:sp>
        <p:nvSpPr>
          <p:cNvPr id="71" name="Shape 69"/>
          <p:cNvSpPr/>
          <p:nvPr/>
        </p:nvSpPr>
        <p:spPr>
          <a:xfrm>
            <a:off x="5340096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700016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73" name="Text 71"/>
          <p:cNvSpPr/>
          <p:nvPr/>
        </p:nvSpPr>
        <p:spPr>
          <a:xfrm>
            <a:off x="4700016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AX소비자금융본부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5621731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128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5340096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4768596" y="1719072"/>
            <a:ext cx="1143000" cy="148132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768596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78" name="Text 76"/>
          <p:cNvSpPr/>
          <p:nvPr/>
        </p:nvSpPr>
        <p:spPr>
          <a:xfrm>
            <a:off x="4786884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NPL관리부</a:t>
            </a:r>
            <a:endParaRPr lang="en-US" sz="750" dirty="0"/>
          </a:p>
        </p:txBody>
      </p:sp>
      <p:sp>
        <p:nvSpPr>
          <p:cNvPr id="79" name="Text 77"/>
          <p:cNvSpPr/>
          <p:nvPr/>
        </p:nvSpPr>
        <p:spPr>
          <a:xfrm>
            <a:off x="5545836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80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4805172" y="20391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81" name="Text 79"/>
          <p:cNvSpPr/>
          <p:nvPr/>
        </p:nvSpPr>
        <p:spPr>
          <a:xfrm>
            <a:off x="4860036" y="197053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NPL관리센터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5545836" y="197053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74</a:t>
            </a:r>
            <a:endParaRPr lang="en-US" sz="600" dirty="0"/>
          </a:p>
        </p:txBody>
      </p:sp>
      <p:sp>
        <p:nvSpPr>
          <p:cNvPr id="83" name="Shape 81"/>
          <p:cNvSpPr/>
          <p:nvPr/>
        </p:nvSpPr>
        <p:spPr>
          <a:xfrm>
            <a:off x="4805172" y="221284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84" name="Text 82"/>
          <p:cNvSpPr/>
          <p:nvPr/>
        </p:nvSpPr>
        <p:spPr>
          <a:xfrm>
            <a:off x="4860036" y="2144268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대구지점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5545836" y="2144268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18</a:t>
            </a:r>
            <a:endParaRPr lang="en-US" sz="600" dirty="0"/>
          </a:p>
        </p:txBody>
      </p:sp>
      <p:sp>
        <p:nvSpPr>
          <p:cNvPr id="86" name="Shape 84"/>
          <p:cNvSpPr/>
          <p:nvPr/>
        </p:nvSpPr>
        <p:spPr>
          <a:xfrm>
            <a:off x="4805172" y="238658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87" name="Text 85"/>
          <p:cNvSpPr/>
          <p:nvPr/>
        </p:nvSpPr>
        <p:spPr>
          <a:xfrm>
            <a:off x="4860036" y="2318004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송무팀</a:t>
            </a:r>
            <a:endParaRPr lang="en-US" sz="650" dirty="0"/>
          </a:p>
        </p:txBody>
      </p:sp>
      <p:sp>
        <p:nvSpPr>
          <p:cNvPr id="88" name="Text 86"/>
          <p:cNvSpPr/>
          <p:nvPr/>
        </p:nvSpPr>
        <p:spPr>
          <a:xfrm>
            <a:off x="5545836" y="2318004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12</a:t>
            </a:r>
            <a:endParaRPr lang="en-US" sz="600" dirty="0"/>
          </a:p>
        </p:txBody>
      </p:sp>
      <p:sp>
        <p:nvSpPr>
          <p:cNvPr id="89" name="Shape 87"/>
          <p:cNvSpPr/>
          <p:nvPr/>
        </p:nvSpPr>
        <p:spPr>
          <a:xfrm>
            <a:off x="4805172" y="256032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90" name="Text 88"/>
          <p:cNvSpPr/>
          <p:nvPr/>
        </p:nvSpPr>
        <p:spPr>
          <a:xfrm>
            <a:off x="4860036" y="2491740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장기1팀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5545836" y="2491740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17</a:t>
            </a:r>
            <a:endParaRPr lang="en-US" sz="600" dirty="0"/>
          </a:p>
        </p:txBody>
      </p:sp>
      <p:sp>
        <p:nvSpPr>
          <p:cNvPr id="92" name="Shape 90"/>
          <p:cNvSpPr/>
          <p:nvPr/>
        </p:nvSpPr>
        <p:spPr>
          <a:xfrm>
            <a:off x="4805172" y="273405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93" name="Text 91"/>
          <p:cNvSpPr/>
          <p:nvPr/>
        </p:nvSpPr>
        <p:spPr>
          <a:xfrm>
            <a:off x="4860036" y="2665476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장기2팀</a:t>
            </a:r>
            <a:endParaRPr lang="en-US" sz="650" dirty="0"/>
          </a:p>
        </p:txBody>
      </p:sp>
      <p:sp>
        <p:nvSpPr>
          <p:cNvPr id="94" name="Text 92"/>
          <p:cNvSpPr/>
          <p:nvPr/>
        </p:nvSpPr>
        <p:spPr>
          <a:xfrm>
            <a:off x="5545836" y="2665476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16</a:t>
            </a:r>
            <a:endParaRPr lang="en-US" sz="600" dirty="0"/>
          </a:p>
        </p:txBody>
      </p:sp>
      <p:sp>
        <p:nvSpPr>
          <p:cNvPr id="95" name="Shape 93"/>
          <p:cNvSpPr/>
          <p:nvPr/>
        </p:nvSpPr>
        <p:spPr>
          <a:xfrm>
            <a:off x="4805172" y="290779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96" name="Text 94"/>
          <p:cNvSpPr/>
          <p:nvPr/>
        </p:nvSpPr>
        <p:spPr>
          <a:xfrm>
            <a:off x="4860036" y="283921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제주지점</a:t>
            </a:r>
            <a:endParaRPr lang="en-US" sz="650" dirty="0"/>
          </a:p>
        </p:txBody>
      </p:sp>
      <p:sp>
        <p:nvSpPr>
          <p:cNvPr id="97" name="Text 95"/>
          <p:cNvSpPr/>
          <p:nvPr/>
        </p:nvSpPr>
        <p:spPr>
          <a:xfrm>
            <a:off x="5545836" y="283921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98" name="Text 96"/>
          <p:cNvSpPr/>
          <p:nvPr/>
        </p:nvSpPr>
        <p:spPr>
          <a:xfrm>
            <a:off x="4768596" y="3012948"/>
            <a:ext cx="1143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외 3개</a:t>
            </a:r>
            <a:endParaRPr lang="en-US" sz="600" dirty="0"/>
          </a:p>
        </p:txBody>
      </p:sp>
      <p:sp>
        <p:nvSpPr>
          <p:cNvPr id="99" name="Shape 97"/>
          <p:cNvSpPr/>
          <p:nvPr/>
        </p:nvSpPr>
        <p:spPr>
          <a:xfrm>
            <a:off x="5340096" y="3200400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768596" y="3255264"/>
            <a:ext cx="1143000" cy="148132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768596" y="3255264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02" name="Text 100"/>
          <p:cNvSpPr/>
          <p:nvPr/>
        </p:nvSpPr>
        <p:spPr>
          <a:xfrm>
            <a:off x="4786884" y="325526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소비자금융부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5545836" y="3255264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48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805172" y="357530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05" name="Text 103"/>
          <p:cNvSpPr/>
          <p:nvPr/>
        </p:nvSpPr>
        <p:spPr>
          <a:xfrm>
            <a:off x="4860036" y="3506724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PL팀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5545836" y="3506724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00" dirty="0"/>
          </a:p>
        </p:txBody>
      </p:sp>
      <p:sp>
        <p:nvSpPr>
          <p:cNvPr id="107" name="Shape 105"/>
          <p:cNvSpPr/>
          <p:nvPr/>
        </p:nvSpPr>
        <p:spPr>
          <a:xfrm>
            <a:off x="4805172" y="374904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08" name="Text 106"/>
          <p:cNvSpPr/>
          <p:nvPr/>
        </p:nvSpPr>
        <p:spPr>
          <a:xfrm>
            <a:off x="4860036" y="3680460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심사기획팀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5545836" y="3680460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110" name="Shape 108"/>
          <p:cNvSpPr/>
          <p:nvPr/>
        </p:nvSpPr>
        <p:spPr>
          <a:xfrm>
            <a:off x="4805172" y="392277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11" name="Text 109"/>
          <p:cNvSpPr/>
          <p:nvPr/>
        </p:nvSpPr>
        <p:spPr>
          <a:xfrm>
            <a:off x="4860036" y="3854196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영업기획팀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45836" y="3854196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00" dirty="0"/>
          </a:p>
        </p:txBody>
      </p:sp>
      <p:sp>
        <p:nvSpPr>
          <p:cNvPr id="113" name="Shape 111"/>
          <p:cNvSpPr/>
          <p:nvPr/>
        </p:nvSpPr>
        <p:spPr>
          <a:xfrm>
            <a:off x="4805172" y="40965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14" name="Text 112"/>
          <p:cNvSpPr/>
          <p:nvPr/>
        </p:nvSpPr>
        <p:spPr>
          <a:xfrm>
            <a:off x="4860036" y="402793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콜렉션팀</a:t>
            </a:r>
            <a:endParaRPr lang="en-US" sz="650" dirty="0"/>
          </a:p>
        </p:txBody>
      </p:sp>
      <p:sp>
        <p:nvSpPr>
          <p:cNvPr id="115" name="Text 113"/>
          <p:cNvSpPr/>
          <p:nvPr/>
        </p:nvSpPr>
        <p:spPr>
          <a:xfrm>
            <a:off x="5545836" y="402793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13</a:t>
            </a:r>
            <a:endParaRPr lang="en-US" sz="600" dirty="0"/>
          </a:p>
        </p:txBody>
      </p:sp>
      <p:sp>
        <p:nvSpPr>
          <p:cNvPr id="116" name="Shape 114"/>
          <p:cNvSpPr/>
          <p:nvPr/>
        </p:nvSpPr>
        <p:spPr>
          <a:xfrm>
            <a:off x="4805172" y="427024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17" name="Text 115"/>
          <p:cNvSpPr/>
          <p:nvPr/>
        </p:nvSpPr>
        <p:spPr>
          <a:xfrm>
            <a:off x="4860036" y="4201668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통합디지털센터</a:t>
            </a:r>
            <a:endParaRPr lang="en-US" sz="650" dirty="0"/>
          </a:p>
        </p:txBody>
      </p:sp>
      <p:sp>
        <p:nvSpPr>
          <p:cNvPr id="118" name="Text 116"/>
          <p:cNvSpPr/>
          <p:nvPr/>
        </p:nvSpPr>
        <p:spPr>
          <a:xfrm>
            <a:off x="5545836" y="4201668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37</a:t>
            </a:r>
            <a:endParaRPr lang="en-US" sz="600" dirty="0"/>
          </a:p>
        </p:txBody>
      </p:sp>
      <p:sp>
        <p:nvSpPr>
          <p:cNvPr id="119" name="Shape 117"/>
          <p:cNvSpPr/>
          <p:nvPr/>
        </p:nvSpPr>
        <p:spPr>
          <a:xfrm>
            <a:off x="4805172" y="444398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20" name="Text 118"/>
          <p:cNvSpPr/>
          <p:nvPr/>
        </p:nvSpPr>
        <p:spPr>
          <a:xfrm>
            <a:off x="4860036" y="4375404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통합접수팀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5545836" y="4375404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17</a:t>
            </a:r>
            <a:endParaRPr lang="en-US" sz="600" dirty="0"/>
          </a:p>
        </p:txBody>
      </p:sp>
      <p:sp>
        <p:nvSpPr>
          <p:cNvPr id="122" name="Text 120"/>
          <p:cNvSpPr/>
          <p:nvPr/>
        </p:nvSpPr>
        <p:spPr>
          <a:xfrm>
            <a:off x="4768596" y="4549140"/>
            <a:ext cx="1143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외 1개</a:t>
            </a:r>
            <a:endParaRPr lang="en-US" sz="600" dirty="0"/>
          </a:p>
        </p:txBody>
      </p:sp>
      <p:sp>
        <p:nvSpPr>
          <p:cNvPr id="123" name="Shape 121"/>
          <p:cNvSpPr/>
          <p:nvPr/>
        </p:nvSpPr>
        <p:spPr>
          <a:xfrm>
            <a:off x="6876288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236208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25" name="Text 123"/>
          <p:cNvSpPr/>
          <p:nvPr/>
        </p:nvSpPr>
        <p:spPr>
          <a:xfrm>
            <a:off x="6236208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기업고객사업본부</a:t>
            </a:r>
            <a:endParaRPr lang="en-US" sz="900" dirty="0"/>
          </a:p>
        </p:txBody>
      </p:sp>
      <p:sp>
        <p:nvSpPr>
          <p:cNvPr id="126" name="Text 124"/>
          <p:cNvSpPr/>
          <p:nvPr/>
        </p:nvSpPr>
        <p:spPr>
          <a:xfrm>
            <a:off x="7157923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27</a:t>
            </a:r>
            <a:endParaRPr lang="en-US" sz="700" dirty="0"/>
          </a:p>
        </p:txBody>
      </p:sp>
      <p:sp>
        <p:nvSpPr>
          <p:cNvPr id="127" name="Shape 125"/>
          <p:cNvSpPr/>
          <p:nvPr/>
        </p:nvSpPr>
        <p:spPr>
          <a:xfrm>
            <a:off x="6876288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6304788" y="1719072"/>
            <a:ext cx="1143000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6304788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30" name="Text 128"/>
          <p:cNvSpPr/>
          <p:nvPr/>
        </p:nvSpPr>
        <p:spPr>
          <a:xfrm>
            <a:off x="6323076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구조화금융본부</a:t>
            </a:r>
            <a:endParaRPr lang="en-US" sz="750" dirty="0"/>
          </a:p>
        </p:txBody>
      </p:sp>
      <p:sp>
        <p:nvSpPr>
          <p:cNvPr id="131" name="Text 129"/>
          <p:cNvSpPr/>
          <p:nvPr/>
        </p:nvSpPr>
        <p:spPr>
          <a:xfrm>
            <a:off x="7082028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132" name="Shape 130"/>
          <p:cNvSpPr/>
          <p:nvPr/>
        </p:nvSpPr>
        <p:spPr>
          <a:xfrm>
            <a:off x="6341364" y="20391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33" name="Text 131"/>
          <p:cNvSpPr/>
          <p:nvPr/>
        </p:nvSpPr>
        <p:spPr>
          <a:xfrm>
            <a:off x="6396228" y="197053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구조화금융1부</a:t>
            </a:r>
            <a:endParaRPr lang="en-US" sz="650" dirty="0"/>
          </a:p>
        </p:txBody>
      </p:sp>
      <p:sp>
        <p:nvSpPr>
          <p:cNvPr id="134" name="Text 132"/>
          <p:cNvSpPr/>
          <p:nvPr/>
        </p:nvSpPr>
        <p:spPr>
          <a:xfrm>
            <a:off x="7082028" y="197053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135" name="Shape 133"/>
          <p:cNvSpPr/>
          <p:nvPr/>
        </p:nvSpPr>
        <p:spPr>
          <a:xfrm>
            <a:off x="6341364" y="221284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36" name="Text 134"/>
          <p:cNvSpPr/>
          <p:nvPr/>
        </p:nvSpPr>
        <p:spPr>
          <a:xfrm>
            <a:off x="6396228" y="2144268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구조화금융2부</a:t>
            </a:r>
            <a:endParaRPr lang="en-US" sz="650" dirty="0"/>
          </a:p>
        </p:txBody>
      </p:sp>
      <p:sp>
        <p:nvSpPr>
          <p:cNvPr id="137" name="Text 135"/>
          <p:cNvSpPr/>
          <p:nvPr/>
        </p:nvSpPr>
        <p:spPr>
          <a:xfrm>
            <a:off x="7082028" y="2144268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138" name="Shape 136"/>
          <p:cNvSpPr/>
          <p:nvPr/>
        </p:nvSpPr>
        <p:spPr>
          <a:xfrm>
            <a:off x="6876288" y="2331720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304788" y="2386584"/>
            <a:ext cx="1143000" cy="960120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304788" y="2386584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41" name="Text 139"/>
          <p:cNvSpPr/>
          <p:nvPr/>
        </p:nvSpPr>
        <p:spPr>
          <a:xfrm>
            <a:off x="6323076" y="238658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기업금융본부</a:t>
            </a:r>
            <a:endParaRPr lang="en-US" sz="750" dirty="0"/>
          </a:p>
        </p:txBody>
      </p:sp>
      <p:sp>
        <p:nvSpPr>
          <p:cNvPr id="142" name="Text 140"/>
          <p:cNvSpPr/>
          <p:nvPr/>
        </p:nvSpPr>
        <p:spPr>
          <a:xfrm>
            <a:off x="7082028" y="2386584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11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6341364" y="270662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44" name="Text 142"/>
          <p:cNvSpPr/>
          <p:nvPr/>
        </p:nvSpPr>
        <p:spPr>
          <a:xfrm>
            <a:off x="6396228" y="2638044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기업금융1부</a:t>
            </a:r>
            <a:endParaRPr lang="en-US" sz="650" dirty="0"/>
          </a:p>
        </p:txBody>
      </p:sp>
      <p:sp>
        <p:nvSpPr>
          <p:cNvPr id="145" name="Text 143"/>
          <p:cNvSpPr/>
          <p:nvPr/>
        </p:nvSpPr>
        <p:spPr>
          <a:xfrm>
            <a:off x="7082028" y="2638044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146" name="Shape 144"/>
          <p:cNvSpPr/>
          <p:nvPr/>
        </p:nvSpPr>
        <p:spPr>
          <a:xfrm>
            <a:off x="6341364" y="288036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47" name="Text 145"/>
          <p:cNvSpPr/>
          <p:nvPr/>
        </p:nvSpPr>
        <p:spPr>
          <a:xfrm>
            <a:off x="6396228" y="2811780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기업금융2부</a:t>
            </a:r>
            <a:endParaRPr lang="en-US" sz="650" dirty="0"/>
          </a:p>
        </p:txBody>
      </p:sp>
      <p:sp>
        <p:nvSpPr>
          <p:cNvPr id="148" name="Text 146"/>
          <p:cNvSpPr/>
          <p:nvPr/>
        </p:nvSpPr>
        <p:spPr>
          <a:xfrm>
            <a:off x="7082028" y="2811780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149" name="Shape 147"/>
          <p:cNvSpPr/>
          <p:nvPr/>
        </p:nvSpPr>
        <p:spPr>
          <a:xfrm>
            <a:off x="6341364" y="305409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50" name="Text 148"/>
          <p:cNvSpPr/>
          <p:nvPr/>
        </p:nvSpPr>
        <p:spPr>
          <a:xfrm>
            <a:off x="6396228" y="2985516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기업금융3부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7082028" y="2985516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152" name="Shape 150"/>
          <p:cNvSpPr/>
          <p:nvPr/>
        </p:nvSpPr>
        <p:spPr>
          <a:xfrm>
            <a:off x="6341364" y="322783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53" name="Text 151"/>
          <p:cNvSpPr/>
          <p:nvPr/>
        </p:nvSpPr>
        <p:spPr>
          <a:xfrm>
            <a:off x="6396228" y="315925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기업금융4부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7082028" y="315925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155" name="Shape 153"/>
          <p:cNvSpPr/>
          <p:nvPr/>
        </p:nvSpPr>
        <p:spPr>
          <a:xfrm>
            <a:off x="6876288" y="3346704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6304788" y="3401568"/>
            <a:ext cx="1143000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6304788" y="3401568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58" name="Text 156"/>
          <p:cNvSpPr/>
          <p:nvPr/>
        </p:nvSpPr>
        <p:spPr>
          <a:xfrm>
            <a:off x="6323076" y="340156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영업추진부</a:t>
            </a:r>
            <a:endParaRPr lang="en-US" sz="750" dirty="0"/>
          </a:p>
        </p:txBody>
      </p:sp>
      <p:sp>
        <p:nvSpPr>
          <p:cNvPr id="159" name="Text 157"/>
          <p:cNvSpPr/>
          <p:nvPr/>
        </p:nvSpPr>
        <p:spPr>
          <a:xfrm>
            <a:off x="7082028" y="3401568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160" name="Shape 158"/>
          <p:cNvSpPr/>
          <p:nvPr/>
        </p:nvSpPr>
        <p:spPr>
          <a:xfrm>
            <a:off x="6341364" y="372160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61" name="Text 159"/>
          <p:cNvSpPr/>
          <p:nvPr/>
        </p:nvSpPr>
        <p:spPr>
          <a:xfrm>
            <a:off x="6396228" y="3653028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영업추진팀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082028" y="3653028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00" dirty="0"/>
          </a:p>
        </p:txBody>
      </p:sp>
      <p:sp>
        <p:nvSpPr>
          <p:cNvPr id="163" name="Shape 161"/>
          <p:cNvSpPr/>
          <p:nvPr/>
        </p:nvSpPr>
        <p:spPr>
          <a:xfrm>
            <a:off x="6341364" y="389534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64" name="Text 162"/>
          <p:cNvSpPr/>
          <p:nvPr/>
        </p:nvSpPr>
        <p:spPr>
          <a:xfrm>
            <a:off x="6396228" y="3826764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채권관리팀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7082028" y="3826764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166" name="Shape 164"/>
          <p:cNvSpPr/>
          <p:nvPr/>
        </p:nvSpPr>
        <p:spPr>
          <a:xfrm>
            <a:off x="6876288" y="4014216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304788" y="4069080"/>
            <a:ext cx="11430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304788" y="4069080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69" name="Text 167"/>
          <p:cNvSpPr/>
          <p:nvPr/>
        </p:nvSpPr>
        <p:spPr>
          <a:xfrm>
            <a:off x="6323076" y="406908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투자금융본부</a:t>
            </a:r>
            <a:endParaRPr lang="en-US" sz="750" dirty="0"/>
          </a:p>
        </p:txBody>
      </p:sp>
      <p:sp>
        <p:nvSpPr>
          <p:cNvPr id="170" name="Text 168"/>
          <p:cNvSpPr/>
          <p:nvPr/>
        </p:nvSpPr>
        <p:spPr>
          <a:xfrm>
            <a:off x="7082028" y="4069080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50" dirty="0"/>
          </a:p>
        </p:txBody>
      </p:sp>
      <p:sp>
        <p:nvSpPr>
          <p:cNvPr id="171" name="Shape 169"/>
          <p:cNvSpPr/>
          <p:nvPr/>
        </p:nvSpPr>
        <p:spPr>
          <a:xfrm>
            <a:off x="6341364" y="438912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72" name="Text 170"/>
          <p:cNvSpPr/>
          <p:nvPr/>
        </p:nvSpPr>
        <p:spPr>
          <a:xfrm>
            <a:off x="6396228" y="4320540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투자금융부</a:t>
            </a:r>
            <a:endParaRPr lang="en-US" sz="650" dirty="0"/>
          </a:p>
        </p:txBody>
      </p:sp>
      <p:sp>
        <p:nvSpPr>
          <p:cNvPr id="173" name="Text 171"/>
          <p:cNvSpPr/>
          <p:nvPr/>
        </p:nvSpPr>
        <p:spPr>
          <a:xfrm>
            <a:off x="7082028" y="4320540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600" dirty="0"/>
          </a:p>
        </p:txBody>
      </p:sp>
      <p:sp>
        <p:nvSpPr>
          <p:cNvPr id="174" name="Shape 172"/>
          <p:cNvSpPr/>
          <p:nvPr/>
        </p:nvSpPr>
        <p:spPr>
          <a:xfrm>
            <a:off x="457200" y="6592824"/>
            <a:ext cx="91440" cy="91440"/>
          </a:xfrm>
          <a:prstGeom prst="ellipse">
            <a:avLst/>
          </a:prstGeom>
          <a:solidFill>
            <a:srgbClr val="5BA0D9"/>
          </a:solidFill>
          <a:ln/>
        </p:spPr>
      </p:sp>
      <p:sp>
        <p:nvSpPr>
          <p:cNvPr id="175" name="Text 173"/>
          <p:cNvSpPr/>
          <p:nvPr/>
        </p:nvSpPr>
        <p:spPr>
          <a:xfrm>
            <a:off x="58521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본부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1645920" y="6592824"/>
            <a:ext cx="91440" cy="91440"/>
          </a:xfrm>
          <a:prstGeom prst="ellipse">
            <a:avLst/>
          </a:prstGeom>
          <a:solidFill>
            <a:srgbClr val="FCAF17"/>
          </a:solidFill>
          <a:ln/>
        </p:spPr>
      </p:sp>
      <p:sp>
        <p:nvSpPr>
          <p:cNvPr id="177" name="Text 175"/>
          <p:cNvSpPr/>
          <p:nvPr/>
        </p:nvSpPr>
        <p:spPr>
          <a:xfrm>
            <a:off x="177393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부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2834640" y="6592824"/>
            <a:ext cx="91440" cy="91440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79" name="Text 177"/>
          <p:cNvSpPr/>
          <p:nvPr/>
        </p:nvSpPr>
        <p:spPr>
          <a:xfrm>
            <a:off x="296265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센터/파트</a:t>
            </a:r>
            <a:endParaRPr lang="en-US" sz="700" dirty="0"/>
          </a:p>
        </p:txBody>
      </p:sp>
      <p:sp>
        <p:nvSpPr>
          <p:cNvPr id="180" name="Text 178"/>
          <p:cNvSpPr/>
          <p:nvPr/>
        </p:nvSpPr>
        <p:spPr>
          <a:xfrm>
            <a:off x="6400800" y="65379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OK금융그룹 인사부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5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474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ACI신용정보 조직도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89F38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245명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6" name="Shape 4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solidFill>
            <a:srgbClr val="689F38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ACI신용정보  245명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932688"/>
            <a:ext cx="0" cy="13716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00200" y="1069848"/>
            <a:ext cx="5943600" cy="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00200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7280" y="1207008"/>
            <a:ext cx="1005840" cy="274320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1207008"/>
            <a:ext cx="754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NPL관리1부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21485" y="1207008"/>
            <a:ext cx="261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199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1600200" y="1481328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43000" y="1682496"/>
            <a:ext cx="91440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43000" y="1682496"/>
            <a:ext cx="914400" cy="219456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7" name="Text 15"/>
          <p:cNvSpPr/>
          <p:nvPr/>
        </p:nvSpPr>
        <p:spPr>
          <a:xfrm>
            <a:off x="1161288" y="168249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NPL관리1센터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764792" y="168249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64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1600200" y="1901952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43000" y="1956816"/>
            <a:ext cx="91440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43000" y="1956816"/>
            <a:ext cx="914400" cy="219456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22" name="Text 20"/>
          <p:cNvSpPr/>
          <p:nvPr/>
        </p:nvSpPr>
        <p:spPr>
          <a:xfrm>
            <a:off x="1161288" y="195681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NPL관리2센터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764792" y="195681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81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1600200" y="2176272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143000" y="2231136"/>
            <a:ext cx="91440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143000" y="2231136"/>
            <a:ext cx="914400" cy="219456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27" name="Text 25"/>
          <p:cNvSpPr/>
          <p:nvPr/>
        </p:nvSpPr>
        <p:spPr>
          <a:xfrm>
            <a:off x="1161288" y="223113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NPL관리팀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764792" y="223113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1600200" y="2450592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143000" y="2505456"/>
            <a:ext cx="91440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143000" y="2505456"/>
            <a:ext cx="914400" cy="219456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32" name="Text 30"/>
          <p:cNvSpPr/>
          <p:nvPr/>
        </p:nvSpPr>
        <p:spPr>
          <a:xfrm>
            <a:off x="1161288" y="250545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PL관리지부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1764792" y="250545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51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1600200" y="2724912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143000" y="2779776"/>
            <a:ext cx="91440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143000" y="2779776"/>
            <a:ext cx="914400" cy="219456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37" name="Text 35"/>
          <p:cNvSpPr/>
          <p:nvPr/>
        </p:nvSpPr>
        <p:spPr>
          <a:xfrm>
            <a:off x="1161288" y="277977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강릉PL관리지점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1764792" y="277977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1143000" y="305409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외 20개 부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788920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0" y="1207008"/>
            <a:ext cx="1005840" cy="274320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42" name="Text 40"/>
          <p:cNvSpPr/>
          <p:nvPr/>
        </p:nvSpPr>
        <p:spPr>
          <a:xfrm>
            <a:off x="2286000" y="1207008"/>
            <a:ext cx="754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NPL관리2부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010205" y="1207008"/>
            <a:ext cx="261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2788920" y="1481328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331720" y="1682496"/>
            <a:ext cx="91440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331720" y="1682496"/>
            <a:ext cx="914400" cy="219456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47" name="Text 45"/>
          <p:cNvSpPr/>
          <p:nvPr/>
        </p:nvSpPr>
        <p:spPr>
          <a:xfrm>
            <a:off x="2350008" y="168249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채권관리팀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2953512" y="168249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3977640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4720" y="1207008"/>
            <a:ext cx="1005840" cy="274320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51" name="Text 49"/>
          <p:cNvSpPr/>
          <p:nvPr/>
        </p:nvSpPr>
        <p:spPr>
          <a:xfrm>
            <a:off x="3474720" y="1207008"/>
            <a:ext cx="754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NPL관리3부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4198925" y="1207008"/>
            <a:ext cx="261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166360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663440" y="1207008"/>
            <a:ext cx="1005840" cy="274320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55" name="Text 53"/>
          <p:cNvSpPr/>
          <p:nvPr/>
        </p:nvSpPr>
        <p:spPr>
          <a:xfrm>
            <a:off x="4663440" y="1207008"/>
            <a:ext cx="754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NPL관리4부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387645" y="1207008"/>
            <a:ext cx="261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355080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852160" y="1207008"/>
            <a:ext cx="1005840" cy="274320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59" name="Text 57"/>
          <p:cNvSpPr/>
          <p:nvPr/>
        </p:nvSpPr>
        <p:spPr>
          <a:xfrm>
            <a:off x="5852160" y="1207008"/>
            <a:ext cx="754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경영관리부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576365" y="1207008"/>
            <a:ext cx="261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26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6355080" y="1481328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5897880" y="1682496"/>
            <a:ext cx="91440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897880" y="1682496"/>
            <a:ext cx="914400" cy="219456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64" name="Text 62"/>
          <p:cNvSpPr/>
          <p:nvPr/>
        </p:nvSpPr>
        <p:spPr>
          <a:xfrm>
            <a:off x="5916168" y="168249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경영관리팀</a:t>
            </a:r>
            <a:endParaRPr lang="en-US" sz="750" dirty="0"/>
          </a:p>
        </p:txBody>
      </p:sp>
      <p:sp>
        <p:nvSpPr>
          <p:cNvPr id="65" name="Text 63"/>
          <p:cNvSpPr/>
          <p:nvPr/>
        </p:nvSpPr>
        <p:spPr>
          <a:xfrm>
            <a:off x="6519672" y="168249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6355080" y="1901952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897880" y="1956816"/>
            <a:ext cx="91440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897880" y="1956816"/>
            <a:ext cx="914400" cy="219456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69" name="Text 67"/>
          <p:cNvSpPr/>
          <p:nvPr/>
        </p:nvSpPr>
        <p:spPr>
          <a:xfrm>
            <a:off x="5916168" y="195681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인사관리팀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6519672" y="195681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6355080" y="2176272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897880" y="2231136"/>
            <a:ext cx="91440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897880" y="2231136"/>
            <a:ext cx="914400" cy="219456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74" name="Text 72"/>
          <p:cNvSpPr/>
          <p:nvPr/>
        </p:nvSpPr>
        <p:spPr>
          <a:xfrm>
            <a:off x="5916168" y="223113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휴직자소속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6519672" y="223113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20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7543800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040880" y="1207008"/>
            <a:ext cx="1005840" cy="274320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78" name="Text 76"/>
          <p:cNvSpPr/>
          <p:nvPr/>
        </p:nvSpPr>
        <p:spPr>
          <a:xfrm>
            <a:off x="7040880" y="1207008"/>
            <a:ext cx="7543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채권기획부</a:t>
            </a:r>
            <a:endParaRPr lang="en-US" sz="900" dirty="0"/>
          </a:p>
        </p:txBody>
      </p:sp>
      <p:sp>
        <p:nvSpPr>
          <p:cNvPr id="79" name="Text 77"/>
          <p:cNvSpPr/>
          <p:nvPr/>
        </p:nvSpPr>
        <p:spPr>
          <a:xfrm>
            <a:off x="7765085" y="1207008"/>
            <a:ext cx="2615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7543800" y="1481328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086600" y="1682496"/>
            <a:ext cx="914400" cy="219456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086600" y="1682496"/>
            <a:ext cx="914400" cy="219456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83" name="Text 81"/>
          <p:cNvSpPr/>
          <p:nvPr/>
        </p:nvSpPr>
        <p:spPr>
          <a:xfrm>
            <a:off x="7104888" y="1682496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채권기획팀</a:t>
            </a:r>
            <a:endParaRPr lang="en-US" sz="750" dirty="0"/>
          </a:p>
        </p:txBody>
      </p:sp>
      <p:sp>
        <p:nvSpPr>
          <p:cNvPr id="84" name="Text 82"/>
          <p:cNvSpPr/>
          <p:nvPr/>
        </p:nvSpPr>
        <p:spPr>
          <a:xfrm>
            <a:off x="7708392" y="1682496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57200" y="6592824"/>
            <a:ext cx="91440" cy="91440"/>
          </a:xfrm>
          <a:prstGeom prst="ellipse">
            <a:avLst/>
          </a:prstGeom>
          <a:solidFill>
            <a:srgbClr val="5BA0D9"/>
          </a:solidFill>
          <a:ln/>
        </p:spPr>
      </p:sp>
      <p:sp>
        <p:nvSpPr>
          <p:cNvPr id="86" name="Text 84"/>
          <p:cNvSpPr/>
          <p:nvPr/>
        </p:nvSpPr>
        <p:spPr>
          <a:xfrm>
            <a:off x="58521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본부</a:t>
            </a:r>
            <a:endParaRPr lang="en-US" sz="700" dirty="0"/>
          </a:p>
        </p:txBody>
      </p:sp>
      <p:sp>
        <p:nvSpPr>
          <p:cNvPr id="87" name="Shape 85"/>
          <p:cNvSpPr/>
          <p:nvPr/>
        </p:nvSpPr>
        <p:spPr>
          <a:xfrm>
            <a:off x="1645920" y="6592824"/>
            <a:ext cx="91440" cy="91440"/>
          </a:xfrm>
          <a:prstGeom prst="ellipse">
            <a:avLst/>
          </a:prstGeom>
          <a:solidFill>
            <a:srgbClr val="FCAF17"/>
          </a:solidFill>
          <a:ln/>
        </p:spPr>
      </p:sp>
      <p:sp>
        <p:nvSpPr>
          <p:cNvPr id="88" name="Text 86"/>
          <p:cNvSpPr/>
          <p:nvPr/>
        </p:nvSpPr>
        <p:spPr>
          <a:xfrm>
            <a:off x="177393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부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2834640" y="6592824"/>
            <a:ext cx="91440" cy="91440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90" name="Text 88"/>
          <p:cNvSpPr/>
          <p:nvPr/>
        </p:nvSpPr>
        <p:spPr>
          <a:xfrm>
            <a:off x="296265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센터/파트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6400800" y="65379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OK금융그룹 인사부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5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474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AFI에프앤아이 조직도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B1FA2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137명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6" name="Shape 4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solidFill>
            <a:srgbClr val="7B1FA2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AFI에프앤아이  137명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932688"/>
            <a:ext cx="0" cy="13716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67712" y="1069848"/>
            <a:ext cx="4608576" cy="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67712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27632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2" name="Text 10"/>
          <p:cNvSpPr/>
          <p:nvPr/>
        </p:nvSpPr>
        <p:spPr>
          <a:xfrm>
            <a:off x="1627632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경영지원본부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49347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15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267712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96212" y="1719072"/>
            <a:ext cx="1143000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96212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7" name="Text 15"/>
          <p:cNvSpPr/>
          <p:nvPr/>
        </p:nvSpPr>
        <p:spPr>
          <a:xfrm>
            <a:off x="1714500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경영관리부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73452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15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1732788" y="20391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0" name="Text 18"/>
          <p:cNvSpPr/>
          <p:nvPr/>
        </p:nvSpPr>
        <p:spPr>
          <a:xfrm>
            <a:off x="1787652" y="197053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경영관리팀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2473452" y="197053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22" name="Shape 20"/>
          <p:cNvSpPr/>
          <p:nvPr/>
        </p:nvSpPr>
        <p:spPr>
          <a:xfrm>
            <a:off x="1732788" y="221284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3" name="Text 21"/>
          <p:cNvSpPr/>
          <p:nvPr/>
        </p:nvSpPr>
        <p:spPr>
          <a:xfrm>
            <a:off x="1787652" y="2144268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인사관리팀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2473452" y="2144268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25" name="Shape 23"/>
          <p:cNvSpPr/>
          <p:nvPr/>
        </p:nvSpPr>
        <p:spPr>
          <a:xfrm>
            <a:off x="1732788" y="238658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6" name="Text 24"/>
          <p:cNvSpPr/>
          <p:nvPr/>
        </p:nvSpPr>
        <p:spPr>
          <a:xfrm>
            <a:off x="1787652" y="2318004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휴직자소속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2473452" y="2318004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9</a:t>
            </a:r>
            <a:endParaRPr lang="en-US" sz="600" dirty="0"/>
          </a:p>
        </p:txBody>
      </p:sp>
      <p:sp>
        <p:nvSpPr>
          <p:cNvPr id="28" name="Shape 26"/>
          <p:cNvSpPr/>
          <p:nvPr/>
        </p:nvSpPr>
        <p:spPr>
          <a:xfrm>
            <a:off x="3803904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63824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30" name="Text 28"/>
          <p:cNvSpPr/>
          <p:nvPr/>
        </p:nvSpPr>
        <p:spPr>
          <a:xfrm>
            <a:off x="3163824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기업금융본부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085539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803904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32404" y="1719072"/>
            <a:ext cx="11430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2404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35" name="Text 33"/>
          <p:cNvSpPr/>
          <p:nvPr/>
        </p:nvSpPr>
        <p:spPr>
          <a:xfrm>
            <a:off x="3250692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기업금융1부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009644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3268980" y="20391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38" name="Text 36"/>
          <p:cNvSpPr/>
          <p:nvPr/>
        </p:nvSpPr>
        <p:spPr>
          <a:xfrm>
            <a:off x="3323844" y="197053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기업금융팀</a:t>
            </a:r>
            <a:endParaRPr lang="en-US" sz="650" dirty="0"/>
          </a:p>
        </p:txBody>
      </p:sp>
      <p:sp>
        <p:nvSpPr>
          <p:cNvPr id="39" name="Text 37"/>
          <p:cNvSpPr/>
          <p:nvPr/>
        </p:nvSpPr>
        <p:spPr>
          <a:xfrm>
            <a:off x="4009644" y="197053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40" name="Shape 38"/>
          <p:cNvSpPr/>
          <p:nvPr/>
        </p:nvSpPr>
        <p:spPr>
          <a:xfrm>
            <a:off x="3803904" y="2157984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32404" y="2212848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2404" y="2212848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43" name="Text 41"/>
          <p:cNvSpPr/>
          <p:nvPr/>
        </p:nvSpPr>
        <p:spPr>
          <a:xfrm>
            <a:off x="3250692" y="221284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기업금융2부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009644" y="2212848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3803904" y="2450592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232404" y="2505456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32404" y="2505456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48" name="Text 46"/>
          <p:cNvSpPr/>
          <p:nvPr/>
        </p:nvSpPr>
        <p:spPr>
          <a:xfrm>
            <a:off x="3250692" y="250545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기업금융3부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4009644" y="2505456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5340096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700016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52" name="Text 50"/>
          <p:cNvSpPr/>
          <p:nvPr/>
        </p:nvSpPr>
        <p:spPr>
          <a:xfrm>
            <a:off x="4700016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영업본부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5621731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100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5340096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68596" y="1719072"/>
            <a:ext cx="1143000" cy="148132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768596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57" name="Text 55"/>
          <p:cNvSpPr/>
          <p:nvPr/>
        </p:nvSpPr>
        <p:spPr>
          <a:xfrm>
            <a:off x="4786884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NPL관리부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5545836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66</a:t>
            </a:r>
            <a:endParaRPr lang="en-US" sz="650" dirty="0"/>
          </a:p>
        </p:txBody>
      </p:sp>
      <p:sp>
        <p:nvSpPr>
          <p:cNvPr id="59" name="Shape 57"/>
          <p:cNvSpPr/>
          <p:nvPr/>
        </p:nvSpPr>
        <p:spPr>
          <a:xfrm>
            <a:off x="4805172" y="20391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60" name="Text 58"/>
          <p:cNvSpPr/>
          <p:nvPr/>
        </p:nvSpPr>
        <p:spPr>
          <a:xfrm>
            <a:off x="4860036" y="197053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NPL관리센터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5545836" y="197053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61</a:t>
            </a:r>
            <a:endParaRPr lang="en-US" sz="600" dirty="0"/>
          </a:p>
        </p:txBody>
      </p:sp>
      <p:sp>
        <p:nvSpPr>
          <p:cNvPr id="62" name="Shape 60"/>
          <p:cNvSpPr/>
          <p:nvPr/>
        </p:nvSpPr>
        <p:spPr>
          <a:xfrm>
            <a:off x="4805172" y="221284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63" name="Text 61"/>
          <p:cNvSpPr/>
          <p:nvPr/>
        </p:nvSpPr>
        <p:spPr>
          <a:xfrm>
            <a:off x="4860036" y="2144268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NPL관리팀</a:t>
            </a:r>
            <a:endParaRPr lang="en-US" sz="650" dirty="0"/>
          </a:p>
        </p:txBody>
      </p:sp>
      <p:sp>
        <p:nvSpPr>
          <p:cNvPr id="64" name="Text 62"/>
          <p:cNvSpPr/>
          <p:nvPr/>
        </p:nvSpPr>
        <p:spPr>
          <a:xfrm>
            <a:off x="5545836" y="2144268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00" dirty="0"/>
          </a:p>
        </p:txBody>
      </p:sp>
      <p:sp>
        <p:nvSpPr>
          <p:cNvPr id="65" name="Shape 63"/>
          <p:cNvSpPr/>
          <p:nvPr/>
        </p:nvSpPr>
        <p:spPr>
          <a:xfrm>
            <a:off x="4805172" y="238658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66" name="Text 64"/>
          <p:cNvSpPr/>
          <p:nvPr/>
        </p:nvSpPr>
        <p:spPr>
          <a:xfrm>
            <a:off x="4860036" y="2318004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부산지점</a:t>
            </a:r>
            <a:endParaRPr lang="en-US" sz="650" dirty="0"/>
          </a:p>
        </p:txBody>
      </p:sp>
      <p:sp>
        <p:nvSpPr>
          <p:cNvPr id="67" name="Text 65"/>
          <p:cNvSpPr/>
          <p:nvPr/>
        </p:nvSpPr>
        <p:spPr>
          <a:xfrm>
            <a:off x="5545836" y="2318004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17</a:t>
            </a:r>
            <a:endParaRPr lang="en-US" sz="600" dirty="0"/>
          </a:p>
        </p:txBody>
      </p:sp>
      <p:sp>
        <p:nvSpPr>
          <p:cNvPr id="68" name="Shape 66"/>
          <p:cNvSpPr/>
          <p:nvPr/>
        </p:nvSpPr>
        <p:spPr>
          <a:xfrm>
            <a:off x="4805172" y="256032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69" name="Text 67"/>
          <p:cNvSpPr/>
          <p:nvPr/>
        </p:nvSpPr>
        <p:spPr>
          <a:xfrm>
            <a:off x="4860036" y="2491740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장기1팀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5545836" y="2491740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19</a:t>
            </a:r>
            <a:endParaRPr lang="en-US" sz="600" dirty="0"/>
          </a:p>
        </p:txBody>
      </p:sp>
      <p:sp>
        <p:nvSpPr>
          <p:cNvPr id="71" name="Shape 69"/>
          <p:cNvSpPr/>
          <p:nvPr/>
        </p:nvSpPr>
        <p:spPr>
          <a:xfrm>
            <a:off x="4805172" y="273405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72" name="Text 70"/>
          <p:cNvSpPr/>
          <p:nvPr/>
        </p:nvSpPr>
        <p:spPr>
          <a:xfrm>
            <a:off x="4860036" y="2665476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장기2팀</a:t>
            </a:r>
            <a:endParaRPr lang="en-US" sz="650" dirty="0"/>
          </a:p>
        </p:txBody>
      </p:sp>
      <p:sp>
        <p:nvSpPr>
          <p:cNvPr id="73" name="Text 71"/>
          <p:cNvSpPr/>
          <p:nvPr/>
        </p:nvSpPr>
        <p:spPr>
          <a:xfrm>
            <a:off x="5545836" y="2665476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18</a:t>
            </a:r>
            <a:endParaRPr lang="en-US" sz="600" dirty="0"/>
          </a:p>
        </p:txBody>
      </p:sp>
      <p:sp>
        <p:nvSpPr>
          <p:cNvPr id="74" name="Shape 72"/>
          <p:cNvSpPr/>
          <p:nvPr/>
        </p:nvSpPr>
        <p:spPr>
          <a:xfrm>
            <a:off x="4805172" y="290779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75" name="Text 73"/>
          <p:cNvSpPr/>
          <p:nvPr/>
        </p:nvSpPr>
        <p:spPr>
          <a:xfrm>
            <a:off x="4860036" y="283921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채무조정팀</a:t>
            </a:r>
            <a:endParaRPr lang="en-US" sz="650" dirty="0"/>
          </a:p>
        </p:txBody>
      </p:sp>
      <p:sp>
        <p:nvSpPr>
          <p:cNvPr id="76" name="Text 74"/>
          <p:cNvSpPr/>
          <p:nvPr/>
        </p:nvSpPr>
        <p:spPr>
          <a:xfrm>
            <a:off x="5545836" y="283921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77" name="Text 75"/>
          <p:cNvSpPr/>
          <p:nvPr/>
        </p:nvSpPr>
        <p:spPr>
          <a:xfrm>
            <a:off x="4768596" y="3012948"/>
            <a:ext cx="1143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외 1개</a:t>
            </a:r>
            <a:endParaRPr lang="en-US" sz="600" dirty="0"/>
          </a:p>
        </p:txBody>
      </p:sp>
      <p:sp>
        <p:nvSpPr>
          <p:cNvPr id="78" name="Shape 76"/>
          <p:cNvSpPr/>
          <p:nvPr/>
        </p:nvSpPr>
        <p:spPr>
          <a:xfrm>
            <a:off x="5340096" y="3200400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768596" y="3255264"/>
            <a:ext cx="1143000" cy="78638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68596" y="3255264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81" name="Text 79"/>
          <p:cNvSpPr/>
          <p:nvPr/>
        </p:nvSpPr>
        <p:spPr>
          <a:xfrm>
            <a:off x="4786884" y="325526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송무지원부</a:t>
            </a:r>
            <a:endParaRPr lang="en-US" sz="750" dirty="0"/>
          </a:p>
        </p:txBody>
      </p:sp>
      <p:sp>
        <p:nvSpPr>
          <p:cNvPr id="82" name="Text 80"/>
          <p:cNvSpPr/>
          <p:nvPr/>
        </p:nvSpPr>
        <p:spPr>
          <a:xfrm>
            <a:off x="5545836" y="3255264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29</a:t>
            </a:r>
            <a:endParaRPr lang="en-US" sz="650" dirty="0"/>
          </a:p>
        </p:txBody>
      </p:sp>
      <p:sp>
        <p:nvSpPr>
          <p:cNvPr id="83" name="Shape 81"/>
          <p:cNvSpPr/>
          <p:nvPr/>
        </p:nvSpPr>
        <p:spPr>
          <a:xfrm>
            <a:off x="4805172" y="3575304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84" name="Text 82"/>
          <p:cNvSpPr/>
          <p:nvPr/>
        </p:nvSpPr>
        <p:spPr>
          <a:xfrm>
            <a:off x="4860036" y="3506724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송무지원센터</a:t>
            </a:r>
            <a:endParaRPr lang="en-US" sz="650" dirty="0"/>
          </a:p>
        </p:txBody>
      </p:sp>
      <p:sp>
        <p:nvSpPr>
          <p:cNvPr id="85" name="Text 83"/>
          <p:cNvSpPr/>
          <p:nvPr/>
        </p:nvSpPr>
        <p:spPr>
          <a:xfrm>
            <a:off x="5545836" y="3506724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29</a:t>
            </a:r>
            <a:endParaRPr lang="en-US" sz="600" dirty="0"/>
          </a:p>
        </p:txBody>
      </p:sp>
      <p:sp>
        <p:nvSpPr>
          <p:cNvPr id="86" name="Shape 84"/>
          <p:cNvSpPr/>
          <p:nvPr/>
        </p:nvSpPr>
        <p:spPr>
          <a:xfrm>
            <a:off x="4805172" y="3749040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87" name="Text 85"/>
          <p:cNvSpPr/>
          <p:nvPr/>
        </p:nvSpPr>
        <p:spPr>
          <a:xfrm>
            <a:off x="4860036" y="3680460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송무팀</a:t>
            </a:r>
            <a:endParaRPr lang="en-US" sz="650" dirty="0"/>
          </a:p>
        </p:txBody>
      </p:sp>
      <p:sp>
        <p:nvSpPr>
          <p:cNvPr id="88" name="Text 86"/>
          <p:cNvSpPr/>
          <p:nvPr/>
        </p:nvSpPr>
        <p:spPr>
          <a:xfrm>
            <a:off x="5545836" y="3680460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16</a:t>
            </a:r>
            <a:endParaRPr lang="en-US" sz="600" dirty="0"/>
          </a:p>
        </p:txBody>
      </p:sp>
      <p:sp>
        <p:nvSpPr>
          <p:cNvPr id="89" name="Shape 87"/>
          <p:cNvSpPr/>
          <p:nvPr/>
        </p:nvSpPr>
        <p:spPr>
          <a:xfrm>
            <a:off x="4805172" y="3922776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90" name="Text 88"/>
          <p:cNvSpPr/>
          <p:nvPr/>
        </p:nvSpPr>
        <p:spPr>
          <a:xfrm>
            <a:off x="4860036" y="3854196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회생채권팀</a:t>
            </a:r>
            <a:endParaRPr lang="en-US" sz="650" dirty="0"/>
          </a:p>
        </p:txBody>
      </p:sp>
      <p:sp>
        <p:nvSpPr>
          <p:cNvPr id="91" name="Text 89"/>
          <p:cNvSpPr/>
          <p:nvPr/>
        </p:nvSpPr>
        <p:spPr>
          <a:xfrm>
            <a:off x="5545836" y="3854196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12</a:t>
            </a:r>
            <a:endParaRPr lang="en-US" sz="600" dirty="0"/>
          </a:p>
        </p:txBody>
      </p:sp>
      <p:sp>
        <p:nvSpPr>
          <p:cNvPr id="92" name="Shape 90"/>
          <p:cNvSpPr/>
          <p:nvPr/>
        </p:nvSpPr>
        <p:spPr>
          <a:xfrm>
            <a:off x="5340096" y="4041648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4768596" y="4096512"/>
            <a:ext cx="11430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4768596" y="409651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95" name="Text 93"/>
          <p:cNvSpPr/>
          <p:nvPr/>
        </p:nvSpPr>
        <p:spPr>
          <a:xfrm>
            <a:off x="4786884" y="409651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채권기획부</a:t>
            </a:r>
            <a:endParaRPr lang="en-US" sz="750" dirty="0"/>
          </a:p>
        </p:txBody>
      </p:sp>
      <p:sp>
        <p:nvSpPr>
          <p:cNvPr id="96" name="Text 94"/>
          <p:cNvSpPr/>
          <p:nvPr/>
        </p:nvSpPr>
        <p:spPr>
          <a:xfrm>
            <a:off x="5545836" y="409651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50" dirty="0"/>
          </a:p>
        </p:txBody>
      </p:sp>
      <p:sp>
        <p:nvSpPr>
          <p:cNvPr id="97" name="Shape 95"/>
          <p:cNvSpPr/>
          <p:nvPr/>
        </p:nvSpPr>
        <p:spPr>
          <a:xfrm>
            <a:off x="4805172" y="441655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98" name="Text 96"/>
          <p:cNvSpPr/>
          <p:nvPr/>
        </p:nvSpPr>
        <p:spPr>
          <a:xfrm>
            <a:off x="4860036" y="434797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채권기획팀</a:t>
            </a:r>
            <a:endParaRPr lang="en-US" sz="650" dirty="0"/>
          </a:p>
        </p:txBody>
      </p:sp>
      <p:sp>
        <p:nvSpPr>
          <p:cNvPr id="99" name="Text 97"/>
          <p:cNvSpPr/>
          <p:nvPr/>
        </p:nvSpPr>
        <p:spPr>
          <a:xfrm>
            <a:off x="5545836" y="434797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00" dirty="0"/>
          </a:p>
        </p:txBody>
      </p:sp>
      <p:sp>
        <p:nvSpPr>
          <p:cNvPr id="100" name="Shape 98"/>
          <p:cNvSpPr/>
          <p:nvPr/>
        </p:nvSpPr>
        <p:spPr>
          <a:xfrm>
            <a:off x="6876288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236208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02" name="Text 100"/>
          <p:cNvSpPr/>
          <p:nvPr/>
        </p:nvSpPr>
        <p:spPr>
          <a:xfrm>
            <a:off x="6236208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투자금융본부</a:t>
            </a:r>
            <a:endParaRPr lang="en-US" sz="900" dirty="0"/>
          </a:p>
        </p:txBody>
      </p:sp>
      <p:sp>
        <p:nvSpPr>
          <p:cNvPr id="103" name="Text 101"/>
          <p:cNvSpPr/>
          <p:nvPr/>
        </p:nvSpPr>
        <p:spPr>
          <a:xfrm>
            <a:off x="7157923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11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6876288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304788" y="1719072"/>
            <a:ext cx="1143000" cy="612648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304788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07" name="Text 105"/>
          <p:cNvSpPr/>
          <p:nvPr/>
        </p:nvSpPr>
        <p:spPr>
          <a:xfrm>
            <a:off x="6323076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NPL사업부</a:t>
            </a:r>
            <a:endParaRPr lang="en-US" sz="750" dirty="0"/>
          </a:p>
        </p:txBody>
      </p:sp>
      <p:sp>
        <p:nvSpPr>
          <p:cNvPr id="108" name="Text 106"/>
          <p:cNvSpPr/>
          <p:nvPr/>
        </p:nvSpPr>
        <p:spPr>
          <a:xfrm>
            <a:off x="7082028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11</a:t>
            </a:r>
            <a:endParaRPr lang="en-US" sz="650" dirty="0"/>
          </a:p>
        </p:txBody>
      </p:sp>
      <p:sp>
        <p:nvSpPr>
          <p:cNvPr id="109" name="Shape 107"/>
          <p:cNvSpPr/>
          <p:nvPr/>
        </p:nvSpPr>
        <p:spPr>
          <a:xfrm>
            <a:off x="6341364" y="20391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10" name="Text 108"/>
          <p:cNvSpPr/>
          <p:nvPr/>
        </p:nvSpPr>
        <p:spPr>
          <a:xfrm>
            <a:off x="6396228" y="197053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NPL사업팀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7082028" y="197053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00" dirty="0"/>
          </a:p>
        </p:txBody>
      </p:sp>
      <p:sp>
        <p:nvSpPr>
          <p:cNvPr id="112" name="Shape 110"/>
          <p:cNvSpPr/>
          <p:nvPr/>
        </p:nvSpPr>
        <p:spPr>
          <a:xfrm>
            <a:off x="6341364" y="221284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13" name="Text 111"/>
          <p:cNvSpPr/>
          <p:nvPr/>
        </p:nvSpPr>
        <p:spPr>
          <a:xfrm>
            <a:off x="6396228" y="2144268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모기지관리팀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7082028" y="2144268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00" dirty="0"/>
          </a:p>
        </p:txBody>
      </p:sp>
      <p:sp>
        <p:nvSpPr>
          <p:cNvPr id="115" name="Shape 113"/>
          <p:cNvSpPr/>
          <p:nvPr/>
        </p:nvSpPr>
        <p:spPr>
          <a:xfrm>
            <a:off x="457200" y="6592824"/>
            <a:ext cx="91440" cy="91440"/>
          </a:xfrm>
          <a:prstGeom prst="ellipse">
            <a:avLst/>
          </a:prstGeom>
          <a:solidFill>
            <a:srgbClr val="5BA0D9"/>
          </a:solidFill>
          <a:ln/>
        </p:spPr>
      </p:sp>
      <p:sp>
        <p:nvSpPr>
          <p:cNvPr id="116" name="Text 114"/>
          <p:cNvSpPr/>
          <p:nvPr/>
        </p:nvSpPr>
        <p:spPr>
          <a:xfrm>
            <a:off x="58521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본부</a:t>
            </a:r>
            <a:endParaRPr lang="en-US" sz="700" dirty="0"/>
          </a:p>
        </p:txBody>
      </p:sp>
      <p:sp>
        <p:nvSpPr>
          <p:cNvPr id="117" name="Shape 115"/>
          <p:cNvSpPr/>
          <p:nvPr/>
        </p:nvSpPr>
        <p:spPr>
          <a:xfrm>
            <a:off x="1645920" y="6592824"/>
            <a:ext cx="91440" cy="91440"/>
          </a:xfrm>
          <a:prstGeom prst="ellipse">
            <a:avLst/>
          </a:prstGeom>
          <a:solidFill>
            <a:srgbClr val="FCAF17"/>
          </a:solidFill>
          <a:ln/>
        </p:spPr>
      </p:sp>
      <p:sp>
        <p:nvSpPr>
          <p:cNvPr id="118" name="Text 116"/>
          <p:cNvSpPr/>
          <p:nvPr/>
        </p:nvSpPr>
        <p:spPr>
          <a:xfrm>
            <a:off x="177393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부</a:t>
            </a:r>
            <a:endParaRPr lang="en-US" sz="700" dirty="0"/>
          </a:p>
        </p:txBody>
      </p:sp>
      <p:sp>
        <p:nvSpPr>
          <p:cNvPr id="119" name="Shape 117"/>
          <p:cNvSpPr/>
          <p:nvPr/>
        </p:nvSpPr>
        <p:spPr>
          <a:xfrm>
            <a:off x="2834640" y="6592824"/>
            <a:ext cx="91440" cy="91440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120" name="Text 118"/>
          <p:cNvSpPr/>
          <p:nvPr/>
        </p:nvSpPr>
        <p:spPr>
          <a:xfrm>
            <a:off x="296265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센터/파트</a:t>
            </a:r>
            <a:endParaRPr lang="en-US" sz="700" dirty="0"/>
          </a:p>
        </p:txBody>
      </p:sp>
      <p:sp>
        <p:nvSpPr>
          <p:cNvPr id="121" name="Text 119"/>
          <p:cNvSpPr/>
          <p:nvPr/>
        </p:nvSpPr>
        <p:spPr>
          <a:xfrm>
            <a:off x="6400800" y="65379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OK금융그룹 인사부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5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474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OKAX 조직도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00838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86명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6" name="Shape 4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solidFill>
            <a:srgbClr val="00838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OKAX  86명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932688"/>
            <a:ext cx="0" cy="13716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67712" y="1069848"/>
            <a:ext cx="4608576" cy="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67712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27632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2" name="Text 10"/>
          <p:cNvSpPr/>
          <p:nvPr/>
        </p:nvSpPr>
        <p:spPr>
          <a:xfrm>
            <a:off x="1627632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AI기획부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49347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16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2267712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96212" y="1719072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96212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17" name="Text 15"/>
          <p:cNvSpPr/>
          <p:nvPr/>
        </p:nvSpPr>
        <p:spPr>
          <a:xfrm>
            <a:off x="1714500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AI-IT기획팀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73452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5</a:t>
            </a:r>
            <a:endParaRPr lang="en-US" sz="650" dirty="0"/>
          </a:p>
        </p:txBody>
      </p:sp>
      <p:sp>
        <p:nvSpPr>
          <p:cNvPr id="19" name="Shape 17"/>
          <p:cNvSpPr/>
          <p:nvPr/>
        </p:nvSpPr>
        <p:spPr>
          <a:xfrm>
            <a:off x="2267712" y="1956816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96212" y="2011680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96212" y="2011680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22" name="Text 20"/>
          <p:cNvSpPr/>
          <p:nvPr/>
        </p:nvSpPr>
        <p:spPr>
          <a:xfrm>
            <a:off x="1714500" y="201168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공통운영팀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2473452" y="2011680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24" name="Shape 22"/>
          <p:cNvSpPr/>
          <p:nvPr/>
        </p:nvSpPr>
        <p:spPr>
          <a:xfrm>
            <a:off x="2267712" y="2249424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96212" y="2304288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96212" y="2304288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27" name="Text 25"/>
          <p:cNvSpPr/>
          <p:nvPr/>
        </p:nvSpPr>
        <p:spPr>
          <a:xfrm>
            <a:off x="1714500" y="23042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정보서비스팀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473452" y="2304288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3803904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163824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31" name="Text 29"/>
          <p:cNvSpPr/>
          <p:nvPr/>
        </p:nvSpPr>
        <p:spPr>
          <a:xfrm>
            <a:off x="3163824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IT금융서비스부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085539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25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803904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2404" y="1719072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32404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36" name="Text 34"/>
          <p:cNvSpPr/>
          <p:nvPr/>
        </p:nvSpPr>
        <p:spPr>
          <a:xfrm>
            <a:off x="3250692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금융서비스1팀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009644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3803904" y="1956816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32404" y="2011680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2404" y="2011680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41" name="Text 39"/>
          <p:cNvSpPr/>
          <p:nvPr/>
        </p:nvSpPr>
        <p:spPr>
          <a:xfrm>
            <a:off x="3250692" y="201168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금융서비스2팀</a:t>
            </a:r>
            <a:endParaRPr lang="en-US" sz="750" dirty="0"/>
          </a:p>
        </p:txBody>
      </p:sp>
      <p:sp>
        <p:nvSpPr>
          <p:cNvPr id="42" name="Text 40"/>
          <p:cNvSpPr/>
          <p:nvPr/>
        </p:nvSpPr>
        <p:spPr>
          <a:xfrm>
            <a:off x="4009644" y="2011680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43" name="Shape 41"/>
          <p:cNvSpPr/>
          <p:nvPr/>
        </p:nvSpPr>
        <p:spPr>
          <a:xfrm>
            <a:off x="3803904" y="2249424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32404" y="2304288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32404" y="2304288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46" name="Text 44"/>
          <p:cNvSpPr/>
          <p:nvPr/>
        </p:nvSpPr>
        <p:spPr>
          <a:xfrm>
            <a:off x="3250692" y="23042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금융서비스3팀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009644" y="2304288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5340096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700016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50" name="Text 48"/>
          <p:cNvSpPr/>
          <p:nvPr/>
        </p:nvSpPr>
        <p:spPr>
          <a:xfrm>
            <a:off x="4700016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디지털채널부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621731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12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5340096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768596" y="1719072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768596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55" name="Text 53"/>
          <p:cNvSpPr/>
          <p:nvPr/>
        </p:nvSpPr>
        <p:spPr>
          <a:xfrm>
            <a:off x="4786884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디지털채널1팀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5545836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7</a:t>
            </a:r>
            <a:endParaRPr lang="en-US" sz="650" dirty="0"/>
          </a:p>
        </p:txBody>
      </p:sp>
      <p:sp>
        <p:nvSpPr>
          <p:cNvPr id="57" name="Shape 55"/>
          <p:cNvSpPr/>
          <p:nvPr/>
        </p:nvSpPr>
        <p:spPr>
          <a:xfrm>
            <a:off x="5340096" y="1956816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768596" y="2011680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768596" y="2011680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60" name="Text 58"/>
          <p:cNvSpPr/>
          <p:nvPr/>
        </p:nvSpPr>
        <p:spPr>
          <a:xfrm>
            <a:off x="4786884" y="201168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디지털채널2팀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5545836" y="2011680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6876288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236208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64" name="Text 62"/>
          <p:cNvSpPr/>
          <p:nvPr/>
        </p:nvSpPr>
        <p:spPr>
          <a:xfrm>
            <a:off x="6236208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시스템운영부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7157923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27</a:t>
            </a:r>
            <a:endParaRPr lang="en-US" sz="700" dirty="0"/>
          </a:p>
        </p:txBody>
      </p:sp>
      <p:sp>
        <p:nvSpPr>
          <p:cNvPr id="66" name="Shape 64"/>
          <p:cNvSpPr/>
          <p:nvPr/>
        </p:nvSpPr>
        <p:spPr>
          <a:xfrm>
            <a:off x="6876288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04788" y="1719072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304788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69" name="Text 67"/>
          <p:cNvSpPr/>
          <p:nvPr/>
        </p:nvSpPr>
        <p:spPr>
          <a:xfrm>
            <a:off x="6323076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AI아키텍처팀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7082028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50" dirty="0"/>
          </a:p>
        </p:txBody>
      </p:sp>
      <p:sp>
        <p:nvSpPr>
          <p:cNvPr id="71" name="Shape 69"/>
          <p:cNvSpPr/>
          <p:nvPr/>
        </p:nvSpPr>
        <p:spPr>
          <a:xfrm>
            <a:off x="6876288" y="1956816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304788" y="2011680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304788" y="2011680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74" name="Text 72"/>
          <p:cNvSpPr/>
          <p:nvPr/>
        </p:nvSpPr>
        <p:spPr>
          <a:xfrm>
            <a:off x="6323076" y="201168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보안기획팀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7082028" y="2011680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4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6876288" y="2249424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304788" y="2304288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304788" y="2304288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79" name="Text 77"/>
          <p:cNvSpPr/>
          <p:nvPr/>
        </p:nvSpPr>
        <p:spPr>
          <a:xfrm>
            <a:off x="6323076" y="230428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보안운영팀</a:t>
            </a:r>
            <a:endParaRPr lang="en-US" sz="750" dirty="0"/>
          </a:p>
        </p:txBody>
      </p:sp>
      <p:sp>
        <p:nvSpPr>
          <p:cNvPr id="80" name="Text 78"/>
          <p:cNvSpPr/>
          <p:nvPr/>
        </p:nvSpPr>
        <p:spPr>
          <a:xfrm>
            <a:off x="7082028" y="2304288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3</a:t>
            </a:r>
            <a:endParaRPr lang="en-US" sz="650" dirty="0"/>
          </a:p>
        </p:txBody>
      </p:sp>
      <p:sp>
        <p:nvSpPr>
          <p:cNvPr id="81" name="Shape 79"/>
          <p:cNvSpPr/>
          <p:nvPr/>
        </p:nvSpPr>
        <p:spPr>
          <a:xfrm>
            <a:off x="6876288" y="2542032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304788" y="2596896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304788" y="2596896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84" name="Text 82"/>
          <p:cNvSpPr/>
          <p:nvPr/>
        </p:nvSpPr>
        <p:spPr>
          <a:xfrm>
            <a:off x="6323076" y="2596896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인프라서비스1팀</a:t>
            </a:r>
            <a:endParaRPr lang="en-US" sz="750" dirty="0"/>
          </a:p>
        </p:txBody>
      </p:sp>
      <p:sp>
        <p:nvSpPr>
          <p:cNvPr id="85" name="Text 83"/>
          <p:cNvSpPr/>
          <p:nvPr/>
        </p:nvSpPr>
        <p:spPr>
          <a:xfrm>
            <a:off x="7082028" y="2596896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9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6876288" y="2834640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304788" y="2889504"/>
            <a:ext cx="1143000" cy="237744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304788" y="2889504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89" name="Text 87"/>
          <p:cNvSpPr/>
          <p:nvPr/>
        </p:nvSpPr>
        <p:spPr>
          <a:xfrm>
            <a:off x="6323076" y="288950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인프라서비스2팀</a:t>
            </a:r>
            <a:endParaRPr lang="en-US" sz="750" dirty="0"/>
          </a:p>
        </p:txBody>
      </p:sp>
      <p:sp>
        <p:nvSpPr>
          <p:cNvPr id="90" name="Text 88"/>
          <p:cNvSpPr/>
          <p:nvPr/>
        </p:nvSpPr>
        <p:spPr>
          <a:xfrm>
            <a:off x="7082028" y="2889504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8</a:t>
            </a:r>
            <a:endParaRPr lang="en-US" sz="650" dirty="0"/>
          </a:p>
        </p:txBody>
      </p:sp>
      <p:sp>
        <p:nvSpPr>
          <p:cNvPr id="91" name="Shape 89"/>
          <p:cNvSpPr/>
          <p:nvPr/>
        </p:nvSpPr>
        <p:spPr>
          <a:xfrm>
            <a:off x="457200" y="6592824"/>
            <a:ext cx="91440" cy="91440"/>
          </a:xfrm>
          <a:prstGeom prst="ellipse">
            <a:avLst/>
          </a:prstGeom>
          <a:solidFill>
            <a:srgbClr val="5BA0D9"/>
          </a:solidFill>
          <a:ln/>
        </p:spPr>
      </p:sp>
      <p:sp>
        <p:nvSpPr>
          <p:cNvPr id="92" name="Text 90"/>
          <p:cNvSpPr/>
          <p:nvPr/>
        </p:nvSpPr>
        <p:spPr>
          <a:xfrm>
            <a:off x="58521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본부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1645920" y="6592824"/>
            <a:ext cx="91440" cy="91440"/>
          </a:xfrm>
          <a:prstGeom prst="ellipse">
            <a:avLst/>
          </a:prstGeom>
          <a:solidFill>
            <a:srgbClr val="FCAF17"/>
          </a:solidFill>
          <a:ln/>
        </p:spPr>
      </p:sp>
      <p:sp>
        <p:nvSpPr>
          <p:cNvPr id="94" name="Text 92"/>
          <p:cNvSpPr/>
          <p:nvPr/>
        </p:nvSpPr>
        <p:spPr>
          <a:xfrm>
            <a:off x="177393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부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2834640" y="6592824"/>
            <a:ext cx="91440" cy="91440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96" name="Text 94"/>
          <p:cNvSpPr/>
          <p:nvPr/>
        </p:nvSpPr>
        <p:spPr>
          <a:xfrm>
            <a:off x="296265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센터/파트</a:t>
            </a:r>
            <a:endParaRPr lang="en-US" sz="700" dirty="0"/>
          </a:p>
        </p:txBody>
      </p:sp>
      <p:sp>
        <p:nvSpPr>
          <p:cNvPr id="97" name="Text 95"/>
          <p:cNvSpPr/>
          <p:nvPr/>
        </p:nvSpPr>
        <p:spPr>
          <a:xfrm>
            <a:off x="6400800" y="65379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OK금융그룹 인사부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F55000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5474A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ON+소규모 조직도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858000" y="109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8909C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27명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475488"/>
            <a:ext cx="822960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6" name="Shape 4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solidFill>
            <a:srgbClr val="78909C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474720" y="5669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ON+소규모  27명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0" y="932688"/>
            <a:ext cx="0" cy="13716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99616" y="1069848"/>
            <a:ext cx="6144768" cy="0"/>
          </a:xfrm>
          <a:prstGeom prst="line">
            <a:avLst/>
          </a:prstGeom>
          <a:noFill/>
          <a:ln w="15240">
            <a:solidFill>
              <a:srgbClr val="E0E0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99616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59536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EX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781251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035808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95728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16" name="Text 14"/>
          <p:cNvSpPr/>
          <p:nvPr/>
        </p:nvSpPr>
        <p:spPr>
          <a:xfrm>
            <a:off x="2395728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OKIP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317443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3035808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64308" y="1719072"/>
            <a:ext cx="11430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464308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21" name="Text 19"/>
          <p:cNvSpPr/>
          <p:nvPr/>
        </p:nvSpPr>
        <p:spPr>
          <a:xfrm>
            <a:off x="2482596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미래디지털본부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241548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50" dirty="0"/>
          </a:p>
        </p:txBody>
      </p:sp>
      <p:sp>
        <p:nvSpPr>
          <p:cNvPr id="23" name="Shape 21"/>
          <p:cNvSpPr/>
          <p:nvPr/>
        </p:nvSpPr>
        <p:spPr>
          <a:xfrm>
            <a:off x="2500884" y="20391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24" name="Text 22"/>
          <p:cNvSpPr/>
          <p:nvPr/>
        </p:nvSpPr>
        <p:spPr>
          <a:xfrm>
            <a:off x="2555748" y="197053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미래디지털부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3241548" y="197053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2</a:t>
            </a:r>
            <a:endParaRPr lang="en-US" sz="600" dirty="0"/>
          </a:p>
        </p:txBody>
      </p:sp>
      <p:sp>
        <p:nvSpPr>
          <p:cNvPr id="26" name="Shape 24"/>
          <p:cNvSpPr/>
          <p:nvPr/>
        </p:nvSpPr>
        <p:spPr>
          <a:xfrm>
            <a:off x="4572000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31920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28" name="Text 26"/>
          <p:cNvSpPr/>
          <p:nvPr/>
        </p:nvSpPr>
        <p:spPr>
          <a:xfrm>
            <a:off x="3931920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OKV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853635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6108192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68112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32" name="Text 30"/>
          <p:cNvSpPr/>
          <p:nvPr/>
        </p:nvSpPr>
        <p:spPr>
          <a:xfrm>
            <a:off x="5468112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389827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17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6108192" y="1517904"/>
            <a:ext cx="0" cy="201168"/>
          </a:xfrm>
          <a:prstGeom prst="line">
            <a:avLst/>
          </a:prstGeom>
          <a:noFill/>
          <a:ln w="8890">
            <a:solidFill>
              <a:srgbClr val="E0E0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536692" y="1719072"/>
            <a:ext cx="11430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36692" y="1719072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37" name="Text 35"/>
          <p:cNvSpPr/>
          <p:nvPr/>
        </p:nvSpPr>
        <p:spPr>
          <a:xfrm>
            <a:off x="5554980" y="1719072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경영관리본부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6313932" y="1719072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5573268" y="2039112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40" name="Text 38"/>
          <p:cNvSpPr/>
          <p:nvPr/>
        </p:nvSpPr>
        <p:spPr>
          <a:xfrm>
            <a:off x="5628132" y="1970532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경영지원부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6313932" y="1970532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</a:t>
            </a:r>
            <a:endParaRPr lang="en-US" sz="600" dirty="0"/>
          </a:p>
        </p:txBody>
      </p:sp>
      <p:sp>
        <p:nvSpPr>
          <p:cNvPr id="42" name="Shape 40"/>
          <p:cNvSpPr/>
          <p:nvPr/>
        </p:nvSpPr>
        <p:spPr>
          <a:xfrm>
            <a:off x="6108192" y="2157984"/>
            <a:ext cx="0" cy="54864"/>
          </a:xfrm>
          <a:prstGeom prst="line">
            <a:avLst/>
          </a:prstGeom>
          <a:noFill/>
          <a:ln w="6350">
            <a:solidFill>
              <a:srgbClr val="E0E0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536692" y="2212848"/>
            <a:ext cx="1143000" cy="438912"/>
          </a:xfrm>
          <a:prstGeom prst="rect">
            <a:avLst/>
          </a:prstGeom>
          <a:solidFill>
            <a:srgbClr val="FFFFFF"/>
          </a:solidFill>
          <a:ln w="10160">
            <a:solidFill>
              <a:srgbClr val="FCAF17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536692" y="2212848"/>
            <a:ext cx="1143000" cy="237744"/>
          </a:xfrm>
          <a:prstGeom prst="rect">
            <a:avLst/>
          </a:prstGeom>
          <a:solidFill>
            <a:srgbClr val="FCAF17"/>
          </a:solidFill>
          <a:ln/>
        </p:spPr>
      </p:sp>
      <p:sp>
        <p:nvSpPr>
          <p:cNvPr id="45" name="Text 43"/>
          <p:cNvSpPr/>
          <p:nvPr/>
        </p:nvSpPr>
        <p:spPr>
          <a:xfrm>
            <a:off x="5554980" y="221284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FFFFFF"/>
                </a:solidFill>
                <a:latin typeface="프리젠테이션 Medium" pitchFamily="34" charset="0"/>
                <a:ea typeface="프리젠테이션 Medium" pitchFamily="34" charset="-122"/>
                <a:cs typeface="프리젠테이션 Medium" pitchFamily="34" charset="-120"/>
              </a:rPr>
              <a:t>해외사업본부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6313932" y="2212848"/>
            <a:ext cx="3429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15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5573268" y="2532888"/>
            <a:ext cx="36576" cy="36576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48" name="Text 46"/>
          <p:cNvSpPr/>
          <p:nvPr/>
        </p:nvSpPr>
        <p:spPr>
          <a:xfrm>
            <a:off x="5628132" y="2464308"/>
            <a:ext cx="62865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444444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해외사업부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6313932" y="2464308"/>
            <a:ext cx="3200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15</a:t>
            </a:r>
            <a:endParaRPr lang="en-US" sz="600" dirty="0"/>
          </a:p>
        </p:txBody>
      </p:sp>
      <p:sp>
        <p:nvSpPr>
          <p:cNvPr id="50" name="Shape 48"/>
          <p:cNvSpPr/>
          <p:nvPr/>
        </p:nvSpPr>
        <p:spPr>
          <a:xfrm>
            <a:off x="7644384" y="1069848"/>
            <a:ext cx="0" cy="137160"/>
          </a:xfrm>
          <a:prstGeom prst="line">
            <a:avLst/>
          </a:prstGeom>
          <a:noFill/>
          <a:ln w="12700">
            <a:solidFill>
              <a:srgbClr val="E0E0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004304" y="1207008"/>
            <a:ext cx="1280160" cy="310896"/>
          </a:xfrm>
          <a:prstGeom prst="rect">
            <a:avLst/>
          </a:prstGeom>
          <a:solidFill>
            <a:srgbClr val="5BA0D9"/>
          </a:solidFill>
          <a:ln/>
        </p:spPr>
      </p:sp>
      <p:sp>
        <p:nvSpPr>
          <p:cNvPr id="52" name="Text 50"/>
          <p:cNvSpPr/>
          <p:nvPr/>
        </p:nvSpPr>
        <p:spPr>
          <a:xfrm>
            <a:off x="7004304" y="120700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프리젠테이션 Bold" pitchFamily="34" charset="0"/>
                <a:ea typeface="프리젠테이션 Bold" pitchFamily="34" charset="-122"/>
                <a:cs typeface="프리젠테이션 Bold" pitchFamily="34" charset="-120"/>
              </a:rPr>
              <a:t>OT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926019" y="1207008"/>
            <a:ext cx="33284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8DDEF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6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457200" y="6592824"/>
            <a:ext cx="91440" cy="91440"/>
          </a:xfrm>
          <a:prstGeom prst="ellipse">
            <a:avLst/>
          </a:prstGeom>
          <a:solidFill>
            <a:srgbClr val="5BA0D9"/>
          </a:solidFill>
          <a:ln/>
        </p:spPr>
      </p:sp>
      <p:sp>
        <p:nvSpPr>
          <p:cNvPr id="55" name="Text 53"/>
          <p:cNvSpPr/>
          <p:nvPr/>
        </p:nvSpPr>
        <p:spPr>
          <a:xfrm>
            <a:off x="58521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본부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1645920" y="6592824"/>
            <a:ext cx="91440" cy="91440"/>
          </a:xfrm>
          <a:prstGeom prst="ellipse">
            <a:avLst/>
          </a:prstGeom>
          <a:solidFill>
            <a:srgbClr val="FCAF17"/>
          </a:solidFill>
          <a:ln/>
        </p:spPr>
      </p:sp>
      <p:sp>
        <p:nvSpPr>
          <p:cNvPr id="57" name="Text 55"/>
          <p:cNvSpPr/>
          <p:nvPr/>
        </p:nvSpPr>
        <p:spPr>
          <a:xfrm>
            <a:off x="177393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부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2834640" y="6592824"/>
            <a:ext cx="91440" cy="91440"/>
          </a:xfrm>
          <a:prstGeom prst="ellipse">
            <a:avLst/>
          </a:prstGeom>
          <a:solidFill>
            <a:srgbClr val="8BC34A"/>
          </a:solidFill>
          <a:ln/>
        </p:spPr>
      </p:sp>
      <p:sp>
        <p:nvSpPr>
          <p:cNvPr id="59" name="Text 57"/>
          <p:cNvSpPr/>
          <p:nvPr/>
        </p:nvSpPr>
        <p:spPr>
          <a:xfrm>
            <a:off x="2962656" y="653796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센터/파트</a:t>
            </a:r>
            <a:endParaRPr lang="en-US" sz="700" dirty="0"/>
          </a:p>
        </p:txBody>
      </p:sp>
      <p:sp>
        <p:nvSpPr>
          <p:cNvPr id="60" name="Text 58"/>
          <p:cNvSpPr/>
          <p:nvPr/>
        </p:nvSpPr>
        <p:spPr>
          <a:xfrm>
            <a:off x="6400800" y="6537960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88888"/>
                </a:solidFill>
                <a:latin typeface="프리젠테이션 Light" pitchFamily="34" charset="0"/>
                <a:ea typeface="프리젠테이션 Light" pitchFamily="34" charset="-122"/>
                <a:cs typeface="프리젠테이션 Light" pitchFamily="34" charset="-120"/>
              </a:rPr>
              <a:t>OK금융그룹 인사부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OK금융그룹 조직도 (2026.03)</dc:title>
  <dc:subject>PptxGenJS Presentation</dc:subject>
  <dc:creator>OK금융그룹 인사부</dc:creator>
  <cp:lastModifiedBy>OK금융그룹 인사부</cp:lastModifiedBy>
  <cp:revision>1</cp:revision>
  <dcterms:created xsi:type="dcterms:W3CDTF">2026-04-09T05:32:14Z</dcterms:created>
  <dcterms:modified xsi:type="dcterms:W3CDTF">2026-04-09T05:32:14Z</dcterms:modified>
</cp:coreProperties>
</file>